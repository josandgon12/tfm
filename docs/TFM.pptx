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8" r:id="rId1"/>
  </p:sldMasterIdLst>
  <p:notesMasterIdLst>
    <p:notesMasterId r:id="rId32"/>
  </p:notesMasterIdLst>
  <p:sldIdLst>
    <p:sldId id="256" r:id="rId2"/>
    <p:sldId id="257" r:id="rId3"/>
    <p:sldId id="273" r:id="rId4"/>
    <p:sldId id="296" r:id="rId5"/>
    <p:sldId id="291" r:id="rId6"/>
    <p:sldId id="276" r:id="rId7"/>
    <p:sldId id="277" r:id="rId8"/>
    <p:sldId id="299" r:id="rId9"/>
    <p:sldId id="278" r:id="rId10"/>
    <p:sldId id="305" r:id="rId11"/>
    <p:sldId id="279" r:id="rId12"/>
    <p:sldId id="300" r:id="rId13"/>
    <p:sldId id="301" r:id="rId14"/>
    <p:sldId id="294" r:id="rId15"/>
    <p:sldId id="309" r:id="rId16"/>
    <p:sldId id="304" r:id="rId17"/>
    <p:sldId id="306" r:id="rId18"/>
    <p:sldId id="295" r:id="rId19"/>
    <p:sldId id="303" r:id="rId20"/>
    <p:sldId id="302" r:id="rId21"/>
    <p:sldId id="307" r:id="rId22"/>
    <p:sldId id="308" r:id="rId23"/>
    <p:sldId id="287" r:id="rId24"/>
    <p:sldId id="288" r:id="rId25"/>
    <p:sldId id="286" r:id="rId26"/>
    <p:sldId id="289" r:id="rId27"/>
    <p:sldId id="284" r:id="rId28"/>
    <p:sldId id="285" r:id="rId29"/>
    <p:sldId id="283" r:id="rId30"/>
    <p:sldId id="280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EDFF"/>
    <a:srgbClr val="4BACC6"/>
    <a:srgbClr val="B3393C"/>
    <a:srgbClr val="1CADE4"/>
    <a:srgbClr val="75B6E5"/>
    <a:srgbClr val="199CD1"/>
    <a:srgbClr val="3608FC"/>
    <a:srgbClr val="389438"/>
    <a:srgbClr val="0D0D0D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Fallecimientos por cáncer en 2020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Enfermedades en 2020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65000"/>
                      <a:shade val="92000"/>
                      <a:satMod val="130000"/>
                    </a:schemeClr>
                  </a:gs>
                  <a:gs pos="45000">
                    <a:schemeClr val="accent1">
                      <a:tint val="60000"/>
                      <a:shade val="99000"/>
                      <a:satMod val="120000"/>
                    </a:schemeClr>
                  </a:gs>
                  <a:gs pos="100000">
                    <a:schemeClr val="accent1">
                      <a:tint val="55000"/>
                      <a:satMod val="14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5BC-48CD-9F87-F7A898D04F55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65000"/>
                      <a:shade val="92000"/>
                      <a:satMod val="130000"/>
                    </a:schemeClr>
                  </a:gs>
                  <a:gs pos="45000">
                    <a:schemeClr val="accent2">
                      <a:tint val="60000"/>
                      <a:shade val="99000"/>
                      <a:satMod val="120000"/>
                    </a:schemeClr>
                  </a:gs>
                  <a:gs pos="100000">
                    <a:schemeClr val="accent2">
                      <a:tint val="55000"/>
                      <a:satMod val="14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5BC-48CD-9F87-F7A898D04F55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65000"/>
                      <a:shade val="92000"/>
                      <a:satMod val="130000"/>
                    </a:schemeClr>
                  </a:gs>
                  <a:gs pos="45000">
                    <a:schemeClr val="accent3">
                      <a:tint val="60000"/>
                      <a:shade val="99000"/>
                      <a:satMod val="120000"/>
                    </a:schemeClr>
                  </a:gs>
                  <a:gs pos="100000">
                    <a:schemeClr val="accent3">
                      <a:tint val="55000"/>
                      <a:satMod val="14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 w="9525" cap="flat" cmpd="sng" algn="ctr">
                <a:solidFill>
                  <a:schemeClr val="accent3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05BC-48CD-9F87-F7A898D04F55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tint val="65000"/>
                      <a:shade val="92000"/>
                      <a:satMod val="130000"/>
                    </a:schemeClr>
                  </a:gs>
                  <a:gs pos="45000">
                    <a:schemeClr val="accent4">
                      <a:tint val="60000"/>
                      <a:shade val="99000"/>
                      <a:satMod val="120000"/>
                    </a:schemeClr>
                  </a:gs>
                  <a:gs pos="100000">
                    <a:schemeClr val="accent4">
                      <a:tint val="55000"/>
                      <a:satMod val="14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 w="9525" cap="flat" cmpd="sng" algn="ctr">
                <a:solidFill>
                  <a:schemeClr val="accent4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05BC-48CD-9F87-F7A898D04F55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tint val="65000"/>
                      <a:shade val="92000"/>
                      <a:satMod val="130000"/>
                    </a:schemeClr>
                  </a:gs>
                  <a:gs pos="45000">
                    <a:schemeClr val="accent5">
                      <a:tint val="60000"/>
                      <a:shade val="99000"/>
                      <a:satMod val="120000"/>
                    </a:schemeClr>
                  </a:gs>
                  <a:gs pos="100000">
                    <a:schemeClr val="accent5">
                      <a:tint val="55000"/>
                      <a:satMod val="14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 w="9525" cap="flat" cmpd="sng" algn="ctr">
                <a:solidFill>
                  <a:schemeClr val="accent5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4B-4A47-BF76-EC5F2CB35AE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Hoja1!$A$2:$A$6</c:f>
              <c:strCache>
                <c:ptCount val="5"/>
                <c:pt idx="0">
                  <c:v>Pulmón</c:v>
                </c:pt>
                <c:pt idx="1">
                  <c:v>Mamas</c:v>
                </c:pt>
                <c:pt idx="2">
                  <c:v>Colorrectal</c:v>
                </c:pt>
                <c:pt idx="3">
                  <c:v>Otras</c:v>
                </c:pt>
                <c:pt idx="4">
                  <c:v>Próstata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18</c:v>
                </c:pt>
                <c:pt idx="1">
                  <c:v>6.8</c:v>
                </c:pt>
                <c:pt idx="2">
                  <c:v>9.4</c:v>
                </c:pt>
                <c:pt idx="3">
                  <c:v>62</c:v>
                </c:pt>
                <c:pt idx="4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5BC-48CD-9F87-F7A898D04F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Horas por fase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T. Inicial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Hoja1!$A$2:$A$6</c:f>
              <c:strCache>
                <c:ptCount val="5"/>
                <c:pt idx="0">
                  <c:v>Fase 1</c:v>
                </c:pt>
                <c:pt idx="1">
                  <c:v>Fase 2</c:v>
                </c:pt>
                <c:pt idx="2">
                  <c:v>Fase 3</c:v>
                </c:pt>
                <c:pt idx="3">
                  <c:v>Fase 4</c:v>
                </c:pt>
                <c:pt idx="4">
                  <c:v>Fase 5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60</c:v>
                </c:pt>
                <c:pt idx="1">
                  <c:v>86</c:v>
                </c:pt>
                <c:pt idx="2">
                  <c:v>232</c:v>
                </c:pt>
                <c:pt idx="3">
                  <c:v>58</c:v>
                </c:pt>
                <c:pt idx="4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EE-40CA-9917-6A19C59478DD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T. Final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Hoja1!$A$2:$A$6</c:f>
              <c:strCache>
                <c:ptCount val="5"/>
                <c:pt idx="0">
                  <c:v>Fase 1</c:v>
                </c:pt>
                <c:pt idx="1">
                  <c:v>Fase 2</c:v>
                </c:pt>
                <c:pt idx="2">
                  <c:v>Fase 3</c:v>
                </c:pt>
                <c:pt idx="3">
                  <c:v>Fase 4</c:v>
                </c:pt>
                <c:pt idx="4">
                  <c:v>Fase 5</c:v>
                </c:pt>
              </c:strCache>
            </c:strRef>
          </c:cat>
          <c:val>
            <c:numRef>
              <c:f>Hoja1!$C$2:$C$6</c:f>
              <c:numCache>
                <c:formatCode>General</c:formatCode>
                <c:ptCount val="5"/>
                <c:pt idx="0">
                  <c:v>54</c:v>
                </c:pt>
                <c:pt idx="1">
                  <c:v>82</c:v>
                </c:pt>
                <c:pt idx="2">
                  <c:v>230</c:v>
                </c:pt>
                <c:pt idx="3">
                  <c:v>53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EE-40CA-9917-6A19C59478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3447616"/>
        <c:axId val="64345614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Hoja1!$D$1</c15:sqref>
                        </c15:formulaRef>
                      </c:ext>
                    </c:extLst>
                    <c:strCache>
                      <c:ptCount val="1"/>
                      <c:pt idx="0">
                        <c:v>Columna1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Hoja1!$A$2:$A$6</c15:sqref>
                        </c15:formulaRef>
                      </c:ext>
                    </c:extLst>
                    <c:strCache>
                      <c:ptCount val="5"/>
                      <c:pt idx="0">
                        <c:v>Fase 1</c:v>
                      </c:pt>
                      <c:pt idx="1">
                        <c:v>Fase 2</c:v>
                      </c:pt>
                      <c:pt idx="2">
                        <c:v>Fase 3</c:v>
                      </c:pt>
                      <c:pt idx="3">
                        <c:v>Fase 4</c:v>
                      </c:pt>
                      <c:pt idx="4">
                        <c:v>Fase 5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Hoja1!$D$2:$D$6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82EE-40CA-9917-6A19C59478DD}"/>
                  </c:ext>
                </c:extLst>
              </c15:ser>
            </c15:filteredBarSeries>
          </c:ext>
        </c:extLst>
      </c:barChart>
      <c:catAx>
        <c:axId val="643447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643456144"/>
        <c:crosses val="autoZero"/>
        <c:auto val="1"/>
        <c:lblAlgn val="ctr"/>
        <c:lblOffset val="100"/>
        <c:noMultiLvlLbl val="0"/>
      </c:catAx>
      <c:valAx>
        <c:axId val="643456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/>
                  <a:t>Horas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643447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7B0340-01B8-49FB-8FAF-7B407B893BBA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355A82C-FFFB-4131-9FA8-F2847411E94E}">
      <dgm:prSet/>
      <dgm:spPr/>
      <dgm:t>
        <a:bodyPr/>
        <a:lstStyle/>
        <a:p>
          <a:r>
            <a:rPr lang="es-ES" dirty="0"/>
            <a:t>Introducción y Motivación</a:t>
          </a:r>
          <a:endParaRPr lang="en-US" dirty="0"/>
        </a:p>
      </dgm:t>
    </dgm:pt>
    <dgm:pt modelId="{3FF1000C-D921-4E30-AA15-4818DD02303C}" type="parTrans" cxnId="{13CA9E7E-BFA1-45F1-A723-84D7EAA47031}">
      <dgm:prSet/>
      <dgm:spPr/>
      <dgm:t>
        <a:bodyPr/>
        <a:lstStyle/>
        <a:p>
          <a:endParaRPr lang="en-US"/>
        </a:p>
      </dgm:t>
    </dgm:pt>
    <dgm:pt modelId="{5EB0BB00-A540-494D-8A2D-68FD6B4D90AF}" type="sibTrans" cxnId="{13CA9E7E-BFA1-45F1-A723-84D7EAA47031}">
      <dgm:prSet/>
      <dgm:spPr/>
      <dgm:t>
        <a:bodyPr/>
        <a:lstStyle/>
        <a:p>
          <a:endParaRPr lang="en-US"/>
        </a:p>
      </dgm:t>
    </dgm:pt>
    <dgm:pt modelId="{3B3D51EB-AE47-4C84-BE0B-9E4905E643C4}">
      <dgm:prSet/>
      <dgm:spPr/>
      <dgm:t>
        <a:bodyPr/>
        <a:lstStyle/>
        <a:p>
          <a:r>
            <a:rPr lang="es-ES"/>
            <a:t>Objetivos</a:t>
          </a:r>
          <a:endParaRPr lang="en-US"/>
        </a:p>
      </dgm:t>
    </dgm:pt>
    <dgm:pt modelId="{8D38F322-4D3C-4668-93B7-957D7050DA4F}" type="parTrans" cxnId="{FAF05715-0B88-4457-AB69-80F7E9D8DF76}">
      <dgm:prSet/>
      <dgm:spPr/>
      <dgm:t>
        <a:bodyPr/>
        <a:lstStyle/>
        <a:p>
          <a:endParaRPr lang="en-US"/>
        </a:p>
      </dgm:t>
    </dgm:pt>
    <dgm:pt modelId="{4C793788-5E16-4F0B-9FDD-2C35393D1D84}" type="sibTrans" cxnId="{FAF05715-0B88-4457-AB69-80F7E9D8DF76}">
      <dgm:prSet/>
      <dgm:spPr/>
      <dgm:t>
        <a:bodyPr/>
        <a:lstStyle/>
        <a:p>
          <a:endParaRPr lang="en-US"/>
        </a:p>
      </dgm:t>
    </dgm:pt>
    <dgm:pt modelId="{E174740E-1A5E-44EB-A673-1F39EFE0D22F}">
      <dgm:prSet/>
      <dgm:spPr/>
      <dgm:t>
        <a:bodyPr/>
        <a:lstStyle/>
        <a:p>
          <a:r>
            <a:rPr lang="es-ES"/>
            <a:t>Estado del arte</a:t>
          </a:r>
          <a:endParaRPr lang="en-US"/>
        </a:p>
      </dgm:t>
    </dgm:pt>
    <dgm:pt modelId="{0859FE6A-886C-49F2-B6CB-04989F405AE2}" type="parTrans" cxnId="{B43221CD-1ABC-4D44-BCD9-E78A6A83D911}">
      <dgm:prSet/>
      <dgm:spPr/>
      <dgm:t>
        <a:bodyPr/>
        <a:lstStyle/>
        <a:p>
          <a:endParaRPr lang="en-US"/>
        </a:p>
      </dgm:t>
    </dgm:pt>
    <dgm:pt modelId="{B936A6E3-5ECC-4528-9DA7-DF746CE1C1EF}" type="sibTrans" cxnId="{B43221CD-1ABC-4D44-BCD9-E78A6A83D911}">
      <dgm:prSet/>
      <dgm:spPr/>
      <dgm:t>
        <a:bodyPr/>
        <a:lstStyle/>
        <a:p>
          <a:endParaRPr lang="en-US"/>
        </a:p>
      </dgm:t>
    </dgm:pt>
    <dgm:pt modelId="{3F785D3D-F982-4BB0-9094-C3F0B7F88A0A}">
      <dgm:prSet/>
      <dgm:spPr/>
      <dgm:t>
        <a:bodyPr/>
        <a:lstStyle/>
        <a:p>
          <a:r>
            <a:rPr lang="es-ES"/>
            <a:t>Elicitación de requisitos y Análisis de riesgos</a:t>
          </a:r>
          <a:endParaRPr lang="en-US"/>
        </a:p>
      </dgm:t>
    </dgm:pt>
    <dgm:pt modelId="{E11D8B06-D866-4118-A3F6-14F275B6EE8F}" type="parTrans" cxnId="{F0BE39D1-7096-4CC7-80D9-CE8C2B38DB22}">
      <dgm:prSet/>
      <dgm:spPr/>
      <dgm:t>
        <a:bodyPr/>
        <a:lstStyle/>
        <a:p>
          <a:endParaRPr lang="en-US"/>
        </a:p>
      </dgm:t>
    </dgm:pt>
    <dgm:pt modelId="{40B4D69B-6A20-46A6-8074-17F92CB0C4F7}" type="sibTrans" cxnId="{F0BE39D1-7096-4CC7-80D9-CE8C2B38DB22}">
      <dgm:prSet/>
      <dgm:spPr/>
      <dgm:t>
        <a:bodyPr/>
        <a:lstStyle/>
        <a:p>
          <a:endParaRPr lang="en-US"/>
        </a:p>
      </dgm:t>
    </dgm:pt>
    <dgm:pt modelId="{D23D3A23-9D96-4024-96A9-4188FBB5DBE9}">
      <dgm:prSet/>
      <dgm:spPr/>
      <dgm:t>
        <a:bodyPr/>
        <a:lstStyle/>
        <a:p>
          <a:r>
            <a:rPr lang="es-ES" dirty="0"/>
            <a:t>Diseño del sistema e Implementación </a:t>
          </a:r>
          <a:endParaRPr lang="en-US" dirty="0"/>
        </a:p>
      </dgm:t>
    </dgm:pt>
    <dgm:pt modelId="{E55C8EFF-F0AD-4DC2-8002-DA436ED52E0C}" type="parTrans" cxnId="{35A01445-CDA6-4851-859E-2D22E6010BC7}">
      <dgm:prSet/>
      <dgm:spPr/>
      <dgm:t>
        <a:bodyPr/>
        <a:lstStyle/>
        <a:p>
          <a:endParaRPr lang="en-US"/>
        </a:p>
      </dgm:t>
    </dgm:pt>
    <dgm:pt modelId="{655466D9-EE32-4239-B5DB-0DB1C99C19C8}" type="sibTrans" cxnId="{35A01445-CDA6-4851-859E-2D22E6010BC7}">
      <dgm:prSet/>
      <dgm:spPr/>
      <dgm:t>
        <a:bodyPr/>
        <a:lstStyle/>
        <a:p>
          <a:endParaRPr lang="en-US"/>
        </a:p>
      </dgm:t>
    </dgm:pt>
    <dgm:pt modelId="{4A155F03-FD05-417E-B63E-94266193C36A}">
      <dgm:prSet/>
      <dgm:spPr/>
      <dgm:t>
        <a:bodyPr/>
        <a:lstStyle/>
        <a:p>
          <a:r>
            <a:rPr lang="es-ES" dirty="0"/>
            <a:t>Planificación Temporal y Financiera</a:t>
          </a:r>
          <a:endParaRPr lang="en-US" dirty="0"/>
        </a:p>
      </dgm:t>
    </dgm:pt>
    <dgm:pt modelId="{BDA95CEC-0E62-4EAF-918B-8177CB58938E}" type="parTrans" cxnId="{ADD5FC14-B0C5-43F4-B9BD-117E77744D81}">
      <dgm:prSet/>
      <dgm:spPr/>
      <dgm:t>
        <a:bodyPr/>
        <a:lstStyle/>
        <a:p>
          <a:endParaRPr lang="en-US"/>
        </a:p>
      </dgm:t>
    </dgm:pt>
    <dgm:pt modelId="{45D13BE7-D8DA-4F9A-A551-81BDB2BBE845}" type="sibTrans" cxnId="{ADD5FC14-B0C5-43F4-B9BD-117E77744D81}">
      <dgm:prSet/>
      <dgm:spPr/>
      <dgm:t>
        <a:bodyPr/>
        <a:lstStyle/>
        <a:p>
          <a:endParaRPr lang="en-US"/>
        </a:p>
      </dgm:t>
    </dgm:pt>
    <dgm:pt modelId="{7AC28640-1A7C-42C3-A0F9-DF7610A26FC9}">
      <dgm:prSet/>
      <dgm:spPr/>
      <dgm:t>
        <a:bodyPr/>
        <a:lstStyle/>
        <a:p>
          <a:r>
            <a:rPr lang="es-ES"/>
            <a:t>Estudio de mercado</a:t>
          </a:r>
          <a:endParaRPr lang="en-US"/>
        </a:p>
      </dgm:t>
    </dgm:pt>
    <dgm:pt modelId="{221CA7DA-C964-4A5F-927D-095FF4A58165}" type="parTrans" cxnId="{CD1D576F-CC51-4B75-B072-E2EF055DBE19}">
      <dgm:prSet/>
      <dgm:spPr/>
      <dgm:t>
        <a:bodyPr/>
        <a:lstStyle/>
        <a:p>
          <a:endParaRPr lang="en-US"/>
        </a:p>
      </dgm:t>
    </dgm:pt>
    <dgm:pt modelId="{67CA986A-F978-406F-ABD7-AFD1D81AD589}" type="sibTrans" cxnId="{CD1D576F-CC51-4B75-B072-E2EF055DBE19}">
      <dgm:prSet/>
      <dgm:spPr/>
      <dgm:t>
        <a:bodyPr/>
        <a:lstStyle/>
        <a:p>
          <a:endParaRPr lang="en-US"/>
        </a:p>
      </dgm:t>
    </dgm:pt>
    <dgm:pt modelId="{EF6F50DC-C68E-4CB7-AFDF-756BF0330915}">
      <dgm:prSet/>
      <dgm:spPr/>
      <dgm:t>
        <a:bodyPr/>
        <a:lstStyle/>
        <a:p>
          <a:r>
            <a:rPr lang="es-ES" dirty="0"/>
            <a:t>Conclusiones y Trabajo Futuro </a:t>
          </a:r>
          <a:endParaRPr lang="en-US" dirty="0"/>
        </a:p>
      </dgm:t>
    </dgm:pt>
    <dgm:pt modelId="{DEAB674C-BA3C-4EBE-AB7B-FC8C3709E790}" type="parTrans" cxnId="{2C39B042-DE92-4D76-A7A8-A71AC5D9E40B}">
      <dgm:prSet/>
      <dgm:spPr/>
      <dgm:t>
        <a:bodyPr/>
        <a:lstStyle/>
        <a:p>
          <a:endParaRPr lang="en-US"/>
        </a:p>
      </dgm:t>
    </dgm:pt>
    <dgm:pt modelId="{DFE6C241-3CD5-4FCA-81B9-83222EA85BBE}" type="sibTrans" cxnId="{2C39B042-DE92-4D76-A7A8-A71AC5D9E40B}">
      <dgm:prSet/>
      <dgm:spPr/>
      <dgm:t>
        <a:bodyPr/>
        <a:lstStyle/>
        <a:p>
          <a:endParaRPr lang="en-US"/>
        </a:p>
      </dgm:t>
    </dgm:pt>
    <dgm:pt modelId="{FE171019-2F0D-491D-AEA5-327FB5B99D1B}" type="pres">
      <dgm:prSet presAssocID="{A87B0340-01B8-49FB-8FAF-7B407B893BBA}" presName="diagram" presStyleCnt="0">
        <dgm:presLayoutVars>
          <dgm:dir/>
          <dgm:resizeHandles val="exact"/>
        </dgm:presLayoutVars>
      </dgm:prSet>
      <dgm:spPr/>
    </dgm:pt>
    <dgm:pt modelId="{E0A9750E-9AB9-4BB2-A4A0-9082459D767D}" type="pres">
      <dgm:prSet presAssocID="{B355A82C-FFFB-4131-9FA8-F2847411E94E}" presName="node" presStyleLbl="node1" presStyleIdx="0" presStyleCnt="8">
        <dgm:presLayoutVars>
          <dgm:bulletEnabled val="1"/>
        </dgm:presLayoutVars>
      </dgm:prSet>
      <dgm:spPr/>
    </dgm:pt>
    <dgm:pt modelId="{AADD0E6E-6AFF-4682-8264-7FD72172BB51}" type="pres">
      <dgm:prSet presAssocID="{5EB0BB00-A540-494D-8A2D-68FD6B4D90AF}" presName="sibTrans" presStyleLbl="sibTrans2D1" presStyleIdx="0" presStyleCnt="7"/>
      <dgm:spPr/>
    </dgm:pt>
    <dgm:pt modelId="{2D7B41E7-B3B5-4A08-B3E2-BB1F568D8A8A}" type="pres">
      <dgm:prSet presAssocID="{5EB0BB00-A540-494D-8A2D-68FD6B4D90AF}" presName="connectorText" presStyleLbl="sibTrans2D1" presStyleIdx="0" presStyleCnt="7"/>
      <dgm:spPr/>
    </dgm:pt>
    <dgm:pt modelId="{F2320110-54E8-4B0B-B1BF-9498AD224540}" type="pres">
      <dgm:prSet presAssocID="{3B3D51EB-AE47-4C84-BE0B-9E4905E643C4}" presName="node" presStyleLbl="node1" presStyleIdx="1" presStyleCnt="8">
        <dgm:presLayoutVars>
          <dgm:bulletEnabled val="1"/>
        </dgm:presLayoutVars>
      </dgm:prSet>
      <dgm:spPr/>
    </dgm:pt>
    <dgm:pt modelId="{4DFB6E57-2CD2-48F9-B8D6-147EC071F44F}" type="pres">
      <dgm:prSet presAssocID="{4C793788-5E16-4F0B-9FDD-2C35393D1D84}" presName="sibTrans" presStyleLbl="sibTrans2D1" presStyleIdx="1" presStyleCnt="7"/>
      <dgm:spPr/>
    </dgm:pt>
    <dgm:pt modelId="{9F9FAF04-2CFD-405B-B081-C507A4A03DD3}" type="pres">
      <dgm:prSet presAssocID="{4C793788-5E16-4F0B-9FDD-2C35393D1D84}" presName="connectorText" presStyleLbl="sibTrans2D1" presStyleIdx="1" presStyleCnt="7"/>
      <dgm:spPr/>
    </dgm:pt>
    <dgm:pt modelId="{A729D290-4CA5-43ED-A821-9FEE69F8989D}" type="pres">
      <dgm:prSet presAssocID="{E174740E-1A5E-44EB-A673-1F39EFE0D22F}" presName="node" presStyleLbl="node1" presStyleIdx="2" presStyleCnt="8">
        <dgm:presLayoutVars>
          <dgm:bulletEnabled val="1"/>
        </dgm:presLayoutVars>
      </dgm:prSet>
      <dgm:spPr/>
    </dgm:pt>
    <dgm:pt modelId="{B27ADA2E-805B-4396-82D1-2A46EC433A2D}" type="pres">
      <dgm:prSet presAssocID="{B936A6E3-5ECC-4528-9DA7-DF746CE1C1EF}" presName="sibTrans" presStyleLbl="sibTrans2D1" presStyleIdx="2" presStyleCnt="7"/>
      <dgm:spPr/>
    </dgm:pt>
    <dgm:pt modelId="{65628938-94FB-4C46-9F1C-E70DB347CFE9}" type="pres">
      <dgm:prSet presAssocID="{B936A6E3-5ECC-4528-9DA7-DF746CE1C1EF}" presName="connectorText" presStyleLbl="sibTrans2D1" presStyleIdx="2" presStyleCnt="7"/>
      <dgm:spPr/>
    </dgm:pt>
    <dgm:pt modelId="{E7655761-AB12-4C76-95AE-E9F5F404D886}" type="pres">
      <dgm:prSet presAssocID="{3F785D3D-F982-4BB0-9094-C3F0B7F88A0A}" presName="node" presStyleLbl="node1" presStyleIdx="3" presStyleCnt="8">
        <dgm:presLayoutVars>
          <dgm:bulletEnabled val="1"/>
        </dgm:presLayoutVars>
      </dgm:prSet>
      <dgm:spPr/>
    </dgm:pt>
    <dgm:pt modelId="{449E520A-8576-4C89-8AEB-52290A08171F}" type="pres">
      <dgm:prSet presAssocID="{40B4D69B-6A20-46A6-8074-17F92CB0C4F7}" presName="sibTrans" presStyleLbl="sibTrans2D1" presStyleIdx="3" presStyleCnt="7"/>
      <dgm:spPr/>
    </dgm:pt>
    <dgm:pt modelId="{F13EF7FD-3D10-4AFF-91EE-A53AF84EFEF5}" type="pres">
      <dgm:prSet presAssocID="{40B4D69B-6A20-46A6-8074-17F92CB0C4F7}" presName="connectorText" presStyleLbl="sibTrans2D1" presStyleIdx="3" presStyleCnt="7"/>
      <dgm:spPr/>
    </dgm:pt>
    <dgm:pt modelId="{77534E60-F4D7-4B96-9ED4-E5F597EC8C23}" type="pres">
      <dgm:prSet presAssocID="{D23D3A23-9D96-4024-96A9-4188FBB5DBE9}" presName="node" presStyleLbl="node1" presStyleIdx="4" presStyleCnt="8">
        <dgm:presLayoutVars>
          <dgm:bulletEnabled val="1"/>
        </dgm:presLayoutVars>
      </dgm:prSet>
      <dgm:spPr/>
    </dgm:pt>
    <dgm:pt modelId="{B88B3C16-9204-4BD0-B2C9-A58DB07E60EA}" type="pres">
      <dgm:prSet presAssocID="{655466D9-EE32-4239-B5DB-0DB1C99C19C8}" presName="sibTrans" presStyleLbl="sibTrans2D1" presStyleIdx="4" presStyleCnt="7"/>
      <dgm:spPr/>
    </dgm:pt>
    <dgm:pt modelId="{0C09A592-A24E-4A3F-A57B-32A01A095778}" type="pres">
      <dgm:prSet presAssocID="{655466D9-EE32-4239-B5DB-0DB1C99C19C8}" presName="connectorText" presStyleLbl="sibTrans2D1" presStyleIdx="4" presStyleCnt="7"/>
      <dgm:spPr/>
    </dgm:pt>
    <dgm:pt modelId="{E87D4EEF-D957-49CC-94BF-BAB164BFB3A5}" type="pres">
      <dgm:prSet presAssocID="{4A155F03-FD05-417E-B63E-94266193C36A}" presName="node" presStyleLbl="node1" presStyleIdx="5" presStyleCnt="8">
        <dgm:presLayoutVars>
          <dgm:bulletEnabled val="1"/>
        </dgm:presLayoutVars>
      </dgm:prSet>
      <dgm:spPr/>
    </dgm:pt>
    <dgm:pt modelId="{EB9CF76E-D530-4A85-B8BB-289CDA01AC79}" type="pres">
      <dgm:prSet presAssocID="{45D13BE7-D8DA-4F9A-A551-81BDB2BBE845}" presName="sibTrans" presStyleLbl="sibTrans2D1" presStyleIdx="5" presStyleCnt="7"/>
      <dgm:spPr/>
    </dgm:pt>
    <dgm:pt modelId="{A5821773-77A1-4FBE-902B-57AF5EEDFA3A}" type="pres">
      <dgm:prSet presAssocID="{45D13BE7-D8DA-4F9A-A551-81BDB2BBE845}" presName="connectorText" presStyleLbl="sibTrans2D1" presStyleIdx="5" presStyleCnt="7"/>
      <dgm:spPr/>
    </dgm:pt>
    <dgm:pt modelId="{7E27FAEF-ECB5-4965-9308-8C3C989FF3D2}" type="pres">
      <dgm:prSet presAssocID="{7AC28640-1A7C-42C3-A0F9-DF7610A26FC9}" presName="node" presStyleLbl="node1" presStyleIdx="6" presStyleCnt="8">
        <dgm:presLayoutVars>
          <dgm:bulletEnabled val="1"/>
        </dgm:presLayoutVars>
      </dgm:prSet>
      <dgm:spPr/>
    </dgm:pt>
    <dgm:pt modelId="{FA947C0B-9BA5-4D60-B92B-836EC5984DF1}" type="pres">
      <dgm:prSet presAssocID="{67CA986A-F978-406F-ABD7-AFD1D81AD589}" presName="sibTrans" presStyleLbl="sibTrans2D1" presStyleIdx="6" presStyleCnt="7"/>
      <dgm:spPr/>
    </dgm:pt>
    <dgm:pt modelId="{AA5B62CA-50CB-42A0-BF75-13D24EB63C1A}" type="pres">
      <dgm:prSet presAssocID="{67CA986A-F978-406F-ABD7-AFD1D81AD589}" presName="connectorText" presStyleLbl="sibTrans2D1" presStyleIdx="6" presStyleCnt="7"/>
      <dgm:spPr/>
    </dgm:pt>
    <dgm:pt modelId="{54111A19-5972-4EBB-BB20-871E54E7B390}" type="pres">
      <dgm:prSet presAssocID="{EF6F50DC-C68E-4CB7-AFDF-756BF0330915}" presName="node" presStyleLbl="node1" presStyleIdx="7" presStyleCnt="8">
        <dgm:presLayoutVars>
          <dgm:bulletEnabled val="1"/>
        </dgm:presLayoutVars>
      </dgm:prSet>
      <dgm:spPr/>
    </dgm:pt>
  </dgm:ptLst>
  <dgm:cxnLst>
    <dgm:cxn modelId="{B491CD02-947D-47AC-A8A9-A84C0E82DCAC}" type="presOf" srcId="{4C793788-5E16-4F0B-9FDD-2C35393D1D84}" destId="{9F9FAF04-2CFD-405B-B081-C507A4A03DD3}" srcOrd="1" destOrd="0" presId="urn:microsoft.com/office/officeart/2005/8/layout/process5"/>
    <dgm:cxn modelId="{F41DAB07-8F48-4BF7-9870-BDF95CDBFB3D}" type="presOf" srcId="{B355A82C-FFFB-4131-9FA8-F2847411E94E}" destId="{E0A9750E-9AB9-4BB2-A4A0-9082459D767D}" srcOrd="0" destOrd="0" presId="urn:microsoft.com/office/officeart/2005/8/layout/process5"/>
    <dgm:cxn modelId="{3658640D-07E1-414B-B680-3E2247CD6A09}" type="presOf" srcId="{EF6F50DC-C68E-4CB7-AFDF-756BF0330915}" destId="{54111A19-5972-4EBB-BB20-871E54E7B390}" srcOrd="0" destOrd="0" presId="urn:microsoft.com/office/officeart/2005/8/layout/process5"/>
    <dgm:cxn modelId="{ADD5FC14-B0C5-43F4-B9BD-117E77744D81}" srcId="{A87B0340-01B8-49FB-8FAF-7B407B893BBA}" destId="{4A155F03-FD05-417E-B63E-94266193C36A}" srcOrd="5" destOrd="0" parTransId="{BDA95CEC-0E62-4EAF-918B-8177CB58938E}" sibTransId="{45D13BE7-D8DA-4F9A-A551-81BDB2BBE845}"/>
    <dgm:cxn modelId="{FAF05715-0B88-4457-AB69-80F7E9D8DF76}" srcId="{A87B0340-01B8-49FB-8FAF-7B407B893BBA}" destId="{3B3D51EB-AE47-4C84-BE0B-9E4905E643C4}" srcOrd="1" destOrd="0" parTransId="{8D38F322-4D3C-4668-93B7-957D7050DA4F}" sibTransId="{4C793788-5E16-4F0B-9FDD-2C35393D1D84}"/>
    <dgm:cxn modelId="{BEBEA216-2A45-4B15-8209-4F39280DA750}" type="presOf" srcId="{7AC28640-1A7C-42C3-A0F9-DF7610A26FC9}" destId="{7E27FAEF-ECB5-4965-9308-8C3C989FF3D2}" srcOrd="0" destOrd="0" presId="urn:microsoft.com/office/officeart/2005/8/layout/process5"/>
    <dgm:cxn modelId="{E670B032-64FA-4CD1-AC64-EAA28B176ED6}" type="presOf" srcId="{5EB0BB00-A540-494D-8A2D-68FD6B4D90AF}" destId="{2D7B41E7-B3B5-4A08-B3E2-BB1F568D8A8A}" srcOrd="1" destOrd="0" presId="urn:microsoft.com/office/officeart/2005/8/layout/process5"/>
    <dgm:cxn modelId="{32209A3C-E4CB-465E-B207-D68BE4E8146A}" type="presOf" srcId="{E174740E-1A5E-44EB-A673-1F39EFE0D22F}" destId="{A729D290-4CA5-43ED-A821-9FEE69F8989D}" srcOrd="0" destOrd="0" presId="urn:microsoft.com/office/officeart/2005/8/layout/process5"/>
    <dgm:cxn modelId="{2C39B042-DE92-4D76-A7A8-A71AC5D9E40B}" srcId="{A87B0340-01B8-49FB-8FAF-7B407B893BBA}" destId="{EF6F50DC-C68E-4CB7-AFDF-756BF0330915}" srcOrd="7" destOrd="0" parTransId="{DEAB674C-BA3C-4EBE-AB7B-FC8C3709E790}" sibTransId="{DFE6C241-3CD5-4FCA-81B9-83222EA85BBE}"/>
    <dgm:cxn modelId="{35A01445-CDA6-4851-859E-2D22E6010BC7}" srcId="{A87B0340-01B8-49FB-8FAF-7B407B893BBA}" destId="{D23D3A23-9D96-4024-96A9-4188FBB5DBE9}" srcOrd="4" destOrd="0" parTransId="{E55C8EFF-F0AD-4DC2-8002-DA436ED52E0C}" sibTransId="{655466D9-EE32-4239-B5DB-0DB1C99C19C8}"/>
    <dgm:cxn modelId="{FE3E2949-E4FC-45FD-8773-31CE7E21ECD9}" type="presOf" srcId="{655466D9-EE32-4239-B5DB-0DB1C99C19C8}" destId="{0C09A592-A24E-4A3F-A57B-32A01A095778}" srcOrd="1" destOrd="0" presId="urn:microsoft.com/office/officeart/2005/8/layout/process5"/>
    <dgm:cxn modelId="{2AE13E4E-2FB4-4416-9F9E-196620E25797}" type="presOf" srcId="{B936A6E3-5ECC-4528-9DA7-DF746CE1C1EF}" destId="{65628938-94FB-4C46-9F1C-E70DB347CFE9}" srcOrd="1" destOrd="0" presId="urn:microsoft.com/office/officeart/2005/8/layout/process5"/>
    <dgm:cxn modelId="{CD1D576F-CC51-4B75-B072-E2EF055DBE19}" srcId="{A87B0340-01B8-49FB-8FAF-7B407B893BBA}" destId="{7AC28640-1A7C-42C3-A0F9-DF7610A26FC9}" srcOrd="6" destOrd="0" parTransId="{221CA7DA-C964-4A5F-927D-095FF4A58165}" sibTransId="{67CA986A-F978-406F-ABD7-AFD1D81AD589}"/>
    <dgm:cxn modelId="{50FE7B70-F730-472C-A703-92FA01E0D2AC}" type="presOf" srcId="{3F785D3D-F982-4BB0-9094-C3F0B7F88A0A}" destId="{E7655761-AB12-4C76-95AE-E9F5F404D886}" srcOrd="0" destOrd="0" presId="urn:microsoft.com/office/officeart/2005/8/layout/process5"/>
    <dgm:cxn modelId="{13CA9E7E-BFA1-45F1-A723-84D7EAA47031}" srcId="{A87B0340-01B8-49FB-8FAF-7B407B893BBA}" destId="{B355A82C-FFFB-4131-9FA8-F2847411E94E}" srcOrd="0" destOrd="0" parTransId="{3FF1000C-D921-4E30-AA15-4818DD02303C}" sibTransId="{5EB0BB00-A540-494D-8A2D-68FD6B4D90AF}"/>
    <dgm:cxn modelId="{5259A883-3481-4DA8-8BF3-7F1F6C524D01}" type="presOf" srcId="{B936A6E3-5ECC-4528-9DA7-DF746CE1C1EF}" destId="{B27ADA2E-805B-4396-82D1-2A46EC433A2D}" srcOrd="0" destOrd="0" presId="urn:microsoft.com/office/officeart/2005/8/layout/process5"/>
    <dgm:cxn modelId="{A5ED6386-D6B7-4F5E-8400-78EF0A202922}" type="presOf" srcId="{45D13BE7-D8DA-4F9A-A551-81BDB2BBE845}" destId="{EB9CF76E-D530-4A85-B8BB-289CDA01AC79}" srcOrd="0" destOrd="0" presId="urn:microsoft.com/office/officeart/2005/8/layout/process5"/>
    <dgm:cxn modelId="{04E74787-B219-461E-AB73-B013C7C7DB5A}" type="presOf" srcId="{3B3D51EB-AE47-4C84-BE0B-9E4905E643C4}" destId="{F2320110-54E8-4B0B-B1BF-9498AD224540}" srcOrd="0" destOrd="0" presId="urn:microsoft.com/office/officeart/2005/8/layout/process5"/>
    <dgm:cxn modelId="{8F95ED89-3333-468C-95BF-6C18CD56CA9D}" type="presOf" srcId="{655466D9-EE32-4239-B5DB-0DB1C99C19C8}" destId="{B88B3C16-9204-4BD0-B2C9-A58DB07E60EA}" srcOrd="0" destOrd="0" presId="urn:microsoft.com/office/officeart/2005/8/layout/process5"/>
    <dgm:cxn modelId="{DE82828F-0403-42A1-AB92-6D747718D006}" type="presOf" srcId="{67CA986A-F978-406F-ABD7-AFD1D81AD589}" destId="{FA947C0B-9BA5-4D60-B92B-836EC5984DF1}" srcOrd="0" destOrd="0" presId="urn:microsoft.com/office/officeart/2005/8/layout/process5"/>
    <dgm:cxn modelId="{3D0D9497-952A-403C-AA5A-E0ABBAF973FB}" type="presOf" srcId="{4A155F03-FD05-417E-B63E-94266193C36A}" destId="{E87D4EEF-D957-49CC-94BF-BAB164BFB3A5}" srcOrd="0" destOrd="0" presId="urn:microsoft.com/office/officeart/2005/8/layout/process5"/>
    <dgm:cxn modelId="{AA15D397-866D-48CE-904F-1BB4251A0122}" type="presOf" srcId="{45D13BE7-D8DA-4F9A-A551-81BDB2BBE845}" destId="{A5821773-77A1-4FBE-902B-57AF5EEDFA3A}" srcOrd="1" destOrd="0" presId="urn:microsoft.com/office/officeart/2005/8/layout/process5"/>
    <dgm:cxn modelId="{6283FBB1-0D8E-4CDC-9922-348ECCA6A367}" type="presOf" srcId="{40B4D69B-6A20-46A6-8074-17F92CB0C4F7}" destId="{F13EF7FD-3D10-4AFF-91EE-A53AF84EFEF5}" srcOrd="1" destOrd="0" presId="urn:microsoft.com/office/officeart/2005/8/layout/process5"/>
    <dgm:cxn modelId="{E494E0C3-2137-46F8-838F-0D4AA669D635}" type="presOf" srcId="{D23D3A23-9D96-4024-96A9-4188FBB5DBE9}" destId="{77534E60-F4D7-4B96-9ED4-E5F597EC8C23}" srcOrd="0" destOrd="0" presId="urn:microsoft.com/office/officeart/2005/8/layout/process5"/>
    <dgm:cxn modelId="{B43221CD-1ABC-4D44-BCD9-E78A6A83D911}" srcId="{A87B0340-01B8-49FB-8FAF-7B407B893BBA}" destId="{E174740E-1A5E-44EB-A673-1F39EFE0D22F}" srcOrd="2" destOrd="0" parTransId="{0859FE6A-886C-49F2-B6CB-04989F405AE2}" sibTransId="{B936A6E3-5ECC-4528-9DA7-DF746CE1C1EF}"/>
    <dgm:cxn modelId="{F0BE39D1-7096-4CC7-80D9-CE8C2B38DB22}" srcId="{A87B0340-01B8-49FB-8FAF-7B407B893BBA}" destId="{3F785D3D-F982-4BB0-9094-C3F0B7F88A0A}" srcOrd="3" destOrd="0" parTransId="{E11D8B06-D866-4118-A3F6-14F275B6EE8F}" sibTransId="{40B4D69B-6A20-46A6-8074-17F92CB0C4F7}"/>
    <dgm:cxn modelId="{93AD43D7-B404-4A3D-873A-6CE65E56B29B}" type="presOf" srcId="{40B4D69B-6A20-46A6-8074-17F92CB0C4F7}" destId="{449E520A-8576-4C89-8AEB-52290A08171F}" srcOrd="0" destOrd="0" presId="urn:microsoft.com/office/officeart/2005/8/layout/process5"/>
    <dgm:cxn modelId="{F705BDDA-3DE1-40F7-BB57-8D4C90734EE9}" type="presOf" srcId="{5EB0BB00-A540-494D-8A2D-68FD6B4D90AF}" destId="{AADD0E6E-6AFF-4682-8264-7FD72172BB51}" srcOrd="0" destOrd="0" presId="urn:microsoft.com/office/officeart/2005/8/layout/process5"/>
    <dgm:cxn modelId="{A46B23E2-0847-4A6F-827D-1EDF37BB3A07}" type="presOf" srcId="{A87B0340-01B8-49FB-8FAF-7B407B893BBA}" destId="{FE171019-2F0D-491D-AEA5-327FB5B99D1B}" srcOrd="0" destOrd="0" presId="urn:microsoft.com/office/officeart/2005/8/layout/process5"/>
    <dgm:cxn modelId="{116E24E4-88CF-447C-872E-F6D87EAB248B}" type="presOf" srcId="{4C793788-5E16-4F0B-9FDD-2C35393D1D84}" destId="{4DFB6E57-2CD2-48F9-B8D6-147EC071F44F}" srcOrd="0" destOrd="0" presId="urn:microsoft.com/office/officeart/2005/8/layout/process5"/>
    <dgm:cxn modelId="{E67C87F4-4A64-443C-822B-7E5BC6DF801A}" type="presOf" srcId="{67CA986A-F978-406F-ABD7-AFD1D81AD589}" destId="{AA5B62CA-50CB-42A0-BF75-13D24EB63C1A}" srcOrd="1" destOrd="0" presId="urn:microsoft.com/office/officeart/2005/8/layout/process5"/>
    <dgm:cxn modelId="{AFA30932-4326-4317-A985-0D25F82C946F}" type="presParOf" srcId="{FE171019-2F0D-491D-AEA5-327FB5B99D1B}" destId="{E0A9750E-9AB9-4BB2-A4A0-9082459D767D}" srcOrd="0" destOrd="0" presId="urn:microsoft.com/office/officeart/2005/8/layout/process5"/>
    <dgm:cxn modelId="{DA4DE0A2-54E4-440F-90ED-D92B54FD9D77}" type="presParOf" srcId="{FE171019-2F0D-491D-AEA5-327FB5B99D1B}" destId="{AADD0E6E-6AFF-4682-8264-7FD72172BB51}" srcOrd="1" destOrd="0" presId="urn:microsoft.com/office/officeart/2005/8/layout/process5"/>
    <dgm:cxn modelId="{8528607D-1C22-483C-8CBA-6CA6BCB32710}" type="presParOf" srcId="{AADD0E6E-6AFF-4682-8264-7FD72172BB51}" destId="{2D7B41E7-B3B5-4A08-B3E2-BB1F568D8A8A}" srcOrd="0" destOrd="0" presId="urn:microsoft.com/office/officeart/2005/8/layout/process5"/>
    <dgm:cxn modelId="{9DBA72AC-ECBC-4EFD-B05A-76745B49C0E4}" type="presParOf" srcId="{FE171019-2F0D-491D-AEA5-327FB5B99D1B}" destId="{F2320110-54E8-4B0B-B1BF-9498AD224540}" srcOrd="2" destOrd="0" presId="urn:microsoft.com/office/officeart/2005/8/layout/process5"/>
    <dgm:cxn modelId="{38855860-2512-42AF-8431-BA5AC6124DAB}" type="presParOf" srcId="{FE171019-2F0D-491D-AEA5-327FB5B99D1B}" destId="{4DFB6E57-2CD2-48F9-B8D6-147EC071F44F}" srcOrd="3" destOrd="0" presId="urn:microsoft.com/office/officeart/2005/8/layout/process5"/>
    <dgm:cxn modelId="{F7E2C786-C823-415F-97DD-F2064C7174FD}" type="presParOf" srcId="{4DFB6E57-2CD2-48F9-B8D6-147EC071F44F}" destId="{9F9FAF04-2CFD-405B-B081-C507A4A03DD3}" srcOrd="0" destOrd="0" presId="urn:microsoft.com/office/officeart/2005/8/layout/process5"/>
    <dgm:cxn modelId="{37A2B502-8B79-4694-98F6-167507CF2773}" type="presParOf" srcId="{FE171019-2F0D-491D-AEA5-327FB5B99D1B}" destId="{A729D290-4CA5-43ED-A821-9FEE69F8989D}" srcOrd="4" destOrd="0" presId="urn:microsoft.com/office/officeart/2005/8/layout/process5"/>
    <dgm:cxn modelId="{B25051CD-C0C5-46C4-B87D-F83A98C4F4E9}" type="presParOf" srcId="{FE171019-2F0D-491D-AEA5-327FB5B99D1B}" destId="{B27ADA2E-805B-4396-82D1-2A46EC433A2D}" srcOrd="5" destOrd="0" presId="urn:microsoft.com/office/officeart/2005/8/layout/process5"/>
    <dgm:cxn modelId="{6A1CD752-6B0F-410D-8604-819D5572D1BB}" type="presParOf" srcId="{B27ADA2E-805B-4396-82D1-2A46EC433A2D}" destId="{65628938-94FB-4C46-9F1C-E70DB347CFE9}" srcOrd="0" destOrd="0" presId="urn:microsoft.com/office/officeart/2005/8/layout/process5"/>
    <dgm:cxn modelId="{E7D9751A-B551-4B4C-945B-ADC38DD1D5A1}" type="presParOf" srcId="{FE171019-2F0D-491D-AEA5-327FB5B99D1B}" destId="{E7655761-AB12-4C76-95AE-E9F5F404D886}" srcOrd="6" destOrd="0" presId="urn:microsoft.com/office/officeart/2005/8/layout/process5"/>
    <dgm:cxn modelId="{32F4A1B7-D729-41D9-959E-79BA4FF58FE7}" type="presParOf" srcId="{FE171019-2F0D-491D-AEA5-327FB5B99D1B}" destId="{449E520A-8576-4C89-8AEB-52290A08171F}" srcOrd="7" destOrd="0" presId="urn:microsoft.com/office/officeart/2005/8/layout/process5"/>
    <dgm:cxn modelId="{E0E90F47-52AA-4928-A9A1-DFABBB707CCD}" type="presParOf" srcId="{449E520A-8576-4C89-8AEB-52290A08171F}" destId="{F13EF7FD-3D10-4AFF-91EE-A53AF84EFEF5}" srcOrd="0" destOrd="0" presId="urn:microsoft.com/office/officeart/2005/8/layout/process5"/>
    <dgm:cxn modelId="{4985AF91-4188-43DA-B89E-FB718DCCE1FA}" type="presParOf" srcId="{FE171019-2F0D-491D-AEA5-327FB5B99D1B}" destId="{77534E60-F4D7-4B96-9ED4-E5F597EC8C23}" srcOrd="8" destOrd="0" presId="urn:microsoft.com/office/officeart/2005/8/layout/process5"/>
    <dgm:cxn modelId="{5BA88766-F166-48DE-A52F-00A60B2F776A}" type="presParOf" srcId="{FE171019-2F0D-491D-AEA5-327FB5B99D1B}" destId="{B88B3C16-9204-4BD0-B2C9-A58DB07E60EA}" srcOrd="9" destOrd="0" presId="urn:microsoft.com/office/officeart/2005/8/layout/process5"/>
    <dgm:cxn modelId="{E65CDB0E-290A-4970-B0A0-DB7D3BD2CD63}" type="presParOf" srcId="{B88B3C16-9204-4BD0-B2C9-A58DB07E60EA}" destId="{0C09A592-A24E-4A3F-A57B-32A01A095778}" srcOrd="0" destOrd="0" presId="urn:microsoft.com/office/officeart/2005/8/layout/process5"/>
    <dgm:cxn modelId="{C2AD3494-2D29-47D2-88FD-4AE31016235F}" type="presParOf" srcId="{FE171019-2F0D-491D-AEA5-327FB5B99D1B}" destId="{E87D4EEF-D957-49CC-94BF-BAB164BFB3A5}" srcOrd="10" destOrd="0" presId="urn:microsoft.com/office/officeart/2005/8/layout/process5"/>
    <dgm:cxn modelId="{E6499DB1-2F5C-46D9-8CAF-A7D2613CAD03}" type="presParOf" srcId="{FE171019-2F0D-491D-AEA5-327FB5B99D1B}" destId="{EB9CF76E-D530-4A85-B8BB-289CDA01AC79}" srcOrd="11" destOrd="0" presId="urn:microsoft.com/office/officeart/2005/8/layout/process5"/>
    <dgm:cxn modelId="{6493D917-9554-498B-B5E8-D2BAC0C05934}" type="presParOf" srcId="{EB9CF76E-D530-4A85-B8BB-289CDA01AC79}" destId="{A5821773-77A1-4FBE-902B-57AF5EEDFA3A}" srcOrd="0" destOrd="0" presId="urn:microsoft.com/office/officeart/2005/8/layout/process5"/>
    <dgm:cxn modelId="{CE769F01-17B6-4C00-A7F3-43B3A6F34CBF}" type="presParOf" srcId="{FE171019-2F0D-491D-AEA5-327FB5B99D1B}" destId="{7E27FAEF-ECB5-4965-9308-8C3C989FF3D2}" srcOrd="12" destOrd="0" presId="urn:microsoft.com/office/officeart/2005/8/layout/process5"/>
    <dgm:cxn modelId="{14F404B5-22A6-41D4-BDBB-A4DE1F9FB02B}" type="presParOf" srcId="{FE171019-2F0D-491D-AEA5-327FB5B99D1B}" destId="{FA947C0B-9BA5-4D60-B92B-836EC5984DF1}" srcOrd="13" destOrd="0" presId="urn:microsoft.com/office/officeart/2005/8/layout/process5"/>
    <dgm:cxn modelId="{FFBD9D56-F824-434D-92DA-3421B6DE7032}" type="presParOf" srcId="{FA947C0B-9BA5-4D60-B92B-836EC5984DF1}" destId="{AA5B62CA-50CB-42A0-BF75-13D24EB63C1A}" srcOrd="0" destOrd="0" presId="urn:microsoft.com/office/officeart/2005/8/layout/process5"/>
    <dgm:cxn modelId="{FFD25664-EC8D-4B99-979E-28382C2DD1CF}" type="presParOf" srcId="{FE171019-2F0D-491D-AEA5-327FB5B99D1B}" destId="{54111A19-5972-4EBB-BB20-871E54E7B390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A9750E-9AB9-4BB2-A4A0-9082459D767D}">
      <dsp:nvSpPr>
        <dsp:cNvPr id="0" name=""/>
        <dsp:cNvSpPr/>
      </dsp:nvSpPr>
      <dsp:spPr>
        <a:xfrm>
          <a:off x="4420" y="346953"/>
          <a:ext cx="1932607" cy="115956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Introducción y Motivación</a:t>
          </a:r>
          <a:endParaRPr lang="en-US" sz="1800" kern="1200" dirty="0"/>
        </a:p>
      </dsp:txBody>
      <dsp:txXfrm>
        <a:off x="38382" y="380915"/>
        <a:ext cx="1864683" cy="1091640"/>
      </dsp:txXfrm>
    </dsp:sp>
    <dsp:sp modelId="{AADD0E6E-6AFF-4682-8264-7FD72172BB51}">
      <dsp:nvSpPr>
        <dsp:cNvPr id="0" name=""/>
        <dsp:cNvSpPr/>
      </dsp:nvSpPr>
      <dsp:spPr>
        <a:xfrm>
          <a:off x="2107097" y="687092"/>
          <a:ext cx="409712" cy="4792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107097" y="782949"/>
        <a:ext cx="286798" cy="287572"/>
      </dsp:txXfrm>
    </dsp:sp>
    <dsp:sp modelId="{F2320110-54E8-4B0B-B1BF-9498AD224540}">
      <dsp:nvSpPr>
        <dsp:cNvPr id="0" name=""/>
        <dsp:cNvSpPr/>
      </dsp:nvSpPr>
      <dsp:spPr>
        <a:xfrm>
          <a:off x="2710070" y="346953"/>
          <a:ext cx="1932607" cy="115956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Objetivos</a:t>
          </a:r>
          <a:endParaRPr lang="en-US" sz="1800" kern="1200"/>
        </a:p>
      </dsp:txBody>
      <dsp:txXfrm>
        <a:off x="2744032" y="380915"/>
        <a:ext cx="1864683" cy="1091640"/>
      </dsp:txXfrm>
    </dsp:sp>
    <dsp:sp modelId="{4DFB6E57-2CD2-48F9-B8D6-147EC071F44F}">
      <dsp:nvSpPr>
        <dsp:cNvPr id="0" name=""/>
        <dsp:cNvSpPr/>
      </dsp:nvSpPr>
      <dsp:spPr>
        <a:xfrm>
          <a:off x="4812747" y="687092"/>
          <a:ext cx="409712" cy="4792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812747" y="782949"/>
        <a:ext cx="286798" cy="287572"/>
      </dsp:txXfrm>
    </dsp:sp>
    <dsp:sp modelId="{A729D290-4CA5-43ED-A821-9FEE69F8989D}">
      <dsp:nvSpPr>
        <dsp:cNvPr id="0" name=""/>
        <dsp:cNvSpPr/>
      </dsp:nvSpPr>
      <dsp:spPr>
        <a:xfrm>
          <a:off x="5415721" y="346953"/>
          <a:ext cx="1932607" cy="115956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Estado del arte</a:t>
          </a:r>
          <a:endParaRPr lang="en-US" sz="1800" kern="1200"/>
        </a:p>
      </dsp:txBody>
      <dsp:txXfrm>
        <a:off x="5449683" y="380915"/>
        <a:ext cx="1864683" cy="1091640"/>
      </dsp:txXfrm>
    </dsp:sp>
    <dsp:sp modelId="{B27ADA2E-805B-4396-82D1-2A46EC433A2D}">
      <dsp:nvSpPr>
        <dsp:cNvPr id="0" name=""/>
        <dsp:cNvSpPr/>
      </dsp:nvSpPr>
      <dsp:spPr>
        <a:xfrm>
          <a:off x="7518398" y="687092"/>
          <a:ext cx="409712" cy="4792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518398" y="782949"/>
        <a:ext cx="286798" cy="287572"/>
      </dsp:txXfrm>
    </dsp:sp>
    <dsp:sp modelId="{E7655761-AB12-4C76-95AE-E9F5F404D886}">
      <dsp:nvSpPr>
        <dsp:cNvPr id="0" name=""/>
        <dsp:cNvSpPr/>
      </dsp:nvSpPr>
      <dsp:spPr>
        <a:xfrm>
          <a:off x="8121372" y="346953"/>
          <a:ext cx="1932607" cy="115956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Elicitación de requisitos y Análisis de riesgos</a:t>
          </a:r>
          <a:endParaRPr lang="en-US" sz="1800" kern="1200"/>
        </a:p>
      </dsp:txBody>
      <dsp:txXfrm>
        <a:off x="8155334" y="380915"/>
        <a:ext cx="1864683" cy="1091640"/>
      </dsp:txXfrm>
    </dsp:sp>
    <dsp:sp modelId="{449E520A-8576-4C89-8AEB-52290A08171F}">
      <dsp:nvSpPr>
        <dsp:cNvPr id="0" name=""/>
        <dsp:cNvSpPr/>
      </dsp:nvSpPr>
      <dsp:spPr>
        <a:xfrm rot="5400000">
          <a:off x="8882819" y="1641801"/>
          <a:ext cx="409712" cy="4792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8943889" y="1676588"/>
        <a:ext cx="287572" cy="286798"/>
      </dsp:txXfrm>
    </dsp:sp>
    <dsp:sp modelId="{77534E60-F4D7-4B96-9ED4-E5F597EC8C23}">
      <dsp:nvSpPr>
        <dsp:cNvPr id="0" name=""/>
        <dsp:cNvSpPr/>
      </dsp:nvSpPr>
      <dsp:spPr>
        <a:xfrm>
          <a:off x="8121372" y="2279561"/>
          <a:ext cx="1932607" cy="115956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Diseño del sistema e Implementación </a:t>
          </a:r>
          <a:endParaRPr lang="en-US" sz="1800" kern="1200" dirty="0"/>
        </a:p>
      </dsp:txBody>
      <dsp:txXfrm>
        <a:off x="8155334" y="2313523"/>
        <a:ext cx="1864683" cy="1091640"/>
      </dsp:txXfrm>
    </dsp:sp>
    <dsp:sp modelId="{B88B3C16-9204-4BD0-B2C9-A58DB07E60EA}">
      <dsp:nvSpPr>
        <dsp:cNvPr id="0" name=""/>
        <dsp:cNvSpPr/>
      </dsp:nvSpPr>
      <dsp:spPr>
        <a:xfrm rot="10800000">
          <a:off x="7541589" y="2619700"/>
          <a:ext cx="409712" cy="4792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7664503" y="2715557"/>
        <a:ext cx="286798" cy="287572"/>
      </dsp:txXfrm>
    </dsp:sp>
    <dsp:sp modelId="{E87D4EEF-D957-49CC-94BF-BAB164BFB3A5}">
      <dsp:nvSpPr>
        <dsp:cNvPr id="0" name=""/>
        <dsp:cNvSpPr/>
      </dsp:nvSpPr>
      <dsp:spPr>
        <a:xfrm>
          <a:off x="5415721" y="2279561"/>
          <a:ext cx="1932607" cy="115956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Planificación Temporal y Financiera</a:t>
          </a:r>
          <a:endParaRPr lang="en-US" sz="1800" kern="1200" dirty="0"/>
        </a:p>
      </dsp:txBody>
      <dsp:txXfrm>
        <a:off x="5449683" y="2313523"/>
        <a:ext cx="1864683" cy="1091640"/>
      </dsp:txXfrm>
    </dsp:sp>
    <dsp:sp modelId="{EB9CF76E-D530-4A85-B8BB-289CDA01AC79}">
      <dsp:nvSpPr>
        <dsp:cNvPr id="0" name=""/>
        <dsp:cNvSpPr/>
      </dsp:nvSpPr>
      <dsp:spPr>
        <a:xfrm rot="10800000">
          <a:off x="4835939" y="2619700"/>
          <a:ext cx="409712" cy="4792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4958853" y="2715557"/>
        <a:ext cx="286798" cy="287572"/>
      </dsp:txXfrm>
    </dsp:sp>
    <dsp:sp modelId="{7E27FAEF-ECB5-4965-9308-8C3C989FF3D2}">
      <dsp:nvSpPr>
        <dsp:cNvPr id="0" name=""/>
        <dsp:cNvSpPr/>
      </dsp:nvSpPr>
      <dsp:spPr>
        <a:xfrm>
          <a:off x="2710070" y="2279561"/>
          <a:ext cx="1932607" cy="115956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Estudio de mercado</a:t>
          </a:r>
          <a:endParaRPr lang="en-US" sz="1800" kern="1200"/>
        </a:p>
      </dsp:txBody>
      <dsp:txXfrm>
        <a:off x="2744032" y="2313523"/>
        <a:ext cx="1864683" cy="1091640"/>
      </dsp:txXfrm>
    </dsp:sp>
    <dsp:sp modelId="{FA947C0B-9BA5-4D60-B92B-836EC5984DF1}">
      <dsp:nvSpPr>
        <dsp:cNvPr id="0" name=""/>
        <dsp:cNvSpPr/>
      </dsp:nvSpPr>
      <dsp:spPr>
        <a:xfrm rot="10800000">
          <a:off x="2130288" y="2619700"/>
          <a:ext cx="409712" cy="4792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253202" y="2715557"/>
        <a:ext cx="286798" cy="287572"/>
      </dsp:txXfrm>
    </dsp:sp>
    <dsp:sp modelId="{54111A19-5972-4EBB-BB20-871E54E7B390}">
      <dsp:nvSpPr>
        <dsp:cNvPr id="0" name=""/>
        <dsp:cNvSpPr/>
      </dsp:nvSpPr>
      <dsp:spPr>
        <a:xfrm>
          <a:off x="4420" y="2279561"/>
          <a:ext cx="1932607" cy="115956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Conclusiones y Trabajo Futuro </a:t>
          </a:r>
          <a:endParaRPr lang="en-US" sz="1800" kern="1200" dirty="0"/>
        </a:p>
      </dsp:txBody>
      <dsp:txXfrm>
        <a:off x="38382" y="2313523"/>
        <a:ext cx="1864683" cy="1091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769DC-EAB5-4371-9669-B376767F7667}" type="datetimeFigureOut">
              <a:rPr lang="es-ES" smtClean="0"/>
              <a:t>13/11/2024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64F04-54B0-4980-BECB-285DA4F1BB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3061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589D1-B102-4CF7-AE71-146251565F1A}" type="datetime1">
              <a:rPr lang="es-ES" smtClean="0"/>
              <a:t>13/11/2024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675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5FF24-DFEC-44B5-9FE0-29EFB3C2940C}" type="datetime1">
              <a:rPr lang="es-ES" smtClean="0"/>
              <a:t>13/11/2024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895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11D2-0541-4A6B-B0FB-598CF7176C8D}" type="datetime1">
              <a:rPr lang="es-ES" smtClean="0"/>
              <a:t>13/11/2024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334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5541C-112E-4780-8EF1-8513F54E3A25}" type="datetime1">
              <a:rPr lang="es-ES" smtClean="0"/>
              <a:t>13/11/2024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118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4535B-4797-4CCB-9473-2109DBBC0C28}" type="datetime1">
              <a:rPr lang="es-ES" smtClean="0"/>
              <a:t>13/11/2024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163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3899-154F-4185-9B18-5F0319619E63}" type="datetime1">
              <a:rPr lang="es-ES" smtClean="0"/>
              <a:t>13/11/2024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4417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C519-4AAD-4AA1-8C0C-07748A1CBDC3}" type="datetime1">
              <a:rPr lang="es-ES" smtClean="0"/>
              <a:t>13/11/2024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1360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A292932-B54B-4CBA-AA71-18E6C0BECF0D}" type="datetime1">
              <a:rPr lang="es-ES" smtClean="0"/>
              <a:t>13/11/2024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AF12674-6BC1-410B-9194-76B6CB7F6F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0410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1B703-3C0D-4993-8216-EF23F0F0AE94}" type="datetime1">
              <a:rPr lang="es-ES" smtClean="0"/>
              <a:t>13/11/2024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13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3A300-8521-4FE3-A240-9463F37E267F}" type="datetime1">
              <a:rPr lang="es-ES" smtClean="0"/>
              <a:t>13/11/2024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2468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C2441-D269-4563-9740-594DF7902C0A}" type="datetime1">
              <a:rPr lang="es-ES" smtClean="0"/>
              <a:t>13/11/2024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1834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EA0C603-2549-4CDE-BA6A-A1457B9D0068}" type="datetime1">
              <a:rPr lang="es-ES" smtClean="0"/>
              <a:t>13/11/2024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AF12674-6BC1-410B-9194-76B6CB7F6F6A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532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3" Type="http://schemas.openxmlformats.org/officeDocument/2006/relationships/image" Target="../media/image7.svg"/><Relationship Id="rId21" Type="http://schemas.openxmlformats.org/officeDocument/2006/relationships/image" Target="../media/image25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@dallanoce.fd/explainable-ai-a-complete-summary-of-the-main-methods-a28f9ab132f7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EA4E8F-DE3C-C731-3A19-C906D86A30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b="1964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5BA1434-2B5E-0B17-3ED1-6E9D6514B5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5600" b="0" i="0" dirty="0" err="1">
                <a:effectLst/>
                <a:latin typeface="Arial" panose="020B0604020202020204" pitchFamily="34" charset="0"/>
              </a:rPr>
              <a:t>Explicabilidad</a:t>
            </a:r>
            <a:r>
              <a:rPr lang="es-ES" sz="5600" b="0" i="0" dirty="0">
                <a:effectLst/>
                <a:latin typeface="Arial" panose="020B0604020202020204" pitchFamily="34" charset="0"/>
              </a:rPr>
              <a:t> en sistemas de </a:t>
            </a:r>
            <a:r>
              <a:rPr lang="es-ES" sz="5600" dirty="0">
                <a:latin typeface="Arial" panose="020B0604020202020204" pitchFamily="34" charset="0"/>
              </a:rPr>
              <a:t>inteligencia artificial</a:t>
            </a:r>
            <a:r>
              <a:rPr lang="es-ES" sz="5600" b="0" i="0" dirty="0">
                <a:effectLst/>
                <a:latin typeface="Arial" panose="020B0604020202020204" pitchFamily="34" charset="0"/>
              </a:rPr>
              <a:t> para la detección de tumores</a:t>
            </a:r>
            <a:endParaRPr lang="es-ES" sz="5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93ABA6-8F84-C98E-E026-1323EB381C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MÁSTER EN Ingeniería BIOMÉDICA Y SALUD DIGITAL</a:t>
            </a:r>
          </a:p>
          <a:p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Tutor: JUAN PEDRO DOMÍNGUEZ MORALES</a:t>
            </a:r>
          </a:p>
          <a:p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José Andrés González </a:t>
            </a:r>
            <a:r>
              <a:rPr lang="es-E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González</a:t>
            </a:r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0C640E-4317-53F8-1051-D9298F40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2545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3A1B67-657A-33FF-39C1-3BDFBF6D6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ES" dirty="0"/>
              <a:t>Índice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D8F1581-1253-71A2-9E63-286ADFC9D7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026629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E01E4D1-7CA4-0223-0970-7A80B6DF5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7779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78F1174-8A22-A87A-952C-878E829ECC71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Introducción y motivación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8D1C0430-EFD9-A102-23B7-458FD33008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5479957"/>
              </p:ext>
            </p:extLst>
          </p:nvPr>
        </p:nvGraphicFramePr>
        <p:xfrm>
          <a:off x="3464234" y="3429000"/>
          <a:ext cx="3450916" cy="29470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9232326D-D52F-5225-5DDB-3599819D61F2}"/>
              </a:ext>
            </a:extLst>
          </p:cNvPr>
          <p:cNvSpPr txBox="1"/>
          <p:nvPr/>
        </p:nvSpPr>
        <p:spPr>
          <a:xfrm>
            <a:off x="786130" y="1790543"/>
            <a:ext cx="34509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Facilitar la detección de la presencia de un tumor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Agilizar y mejorar la fiabilidad en el proceso de detección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Ofrecer confianza a los médicos con técnicas de </a:t>
            </a:r>
            <a:r>
              <a:rPr lang="es-ES" dirty="0" err="1"/>
              <a:t>explicabilidad</a:t>
            </a:r>
            <a:endParaRPr lang="es-ES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C0D1E9C-1736-4190-93C3-E53844E1F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3</a:t>
            </a:fld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9DAF23F-A757-3A3D-A88C-7AF778949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0" y="1790543"/>
            <a:ext cx="4353643" cy="272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67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78F1174-8A22-A87A-952C-878E829ECC71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Objetivos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8463FEF-5FDA-11BF-82A4-113CBBB3D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4</a:t>
            </a:fld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246C3D7-AD20-554C-2067-76CDA975B48B}"/>
              </a:ext>
            </a:extLst>
          </p:cNvPr>
          <p:cNvSpPr txBox="1"/>
          <p:nvPr/>
        </p:nvSpPr>
        <p:spPr>
          <a:xfrm>
            <a:off x="1040905" y="2136338"/>
            <a:ext cx="82806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Analizar cuales son los mejores datos para la experimentación y cómo prepararlos adecuadamente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Determinar cual es la arquitectura de la red neuronal empleada con la que se obtiene mejores resultados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Investigar diversas técnicas de </a:t>
            </a:r>
            <a:r>
              <a:rPr lang="es-ES" dirty="0" err="1"/>
              <a:t>explicabilidad</a:t>
            </a:r>
            <a:r>
              <a:rPr lang="es-ES" dirty="0"/>
              <a:t> y compararlas para comprobar cual es más óptima para la solución</a:t>
            </a:r>
          </a:p>
        </p:txBody>
      </p:sp>
    </p:spTree>
    <p:extLst>
      <p:ext uri="{BB962C8B-B14F-4D97-AF65-F5344CB8AC3E}">
        <p14:creationId xmlns:p14="http://schemas.microsoft.com/office/powerpoint/2010/main" val="495752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78F1174-8A22-A87A-952C-878E829ECC71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Estado del arte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2197ED2-FE76-9FA3-D58A-72945083B928}"/>
              </a:ext>
            </a:extLst>
          </p:cNvPr>
          <p:cNvSpPr txBox="1"/>
          <p:nvPr/>
        </p:nvSpPr>
        <p:spPr>
          <a:xfrm>
            <a:off x="1097279" y="2072508"/>
            <a:ext cx="62918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Pruebas de imagen (Mamografía, Tomografía, Resonancias, 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Biopsias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Técnicas de tamizaje o cribado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Investigaciones con IA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3DE909-D9B8-B108-C71D-B5AF0210C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5</a:t>
            </a:fld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A16FC58-9D6E-D992-1FC1-2EA1A7A82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4295" y="3088170"/>
            <a:ext cx="3559810" cy="2495550"/>
          </a:xfrm>
          <a:prstGeom prst="rect">
            <a:avLst/>
          </a:prstGeom>
          <a:noFill/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86BA6EE-EED1-F502-274F-F87E8F1FA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488" y="1556292"/>
            <a:ext cx="2753995" cy="18383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59176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78F1174-8A22-A87A-952C-878E829ECC71}"/>
              </a:ext>
            </a:extLst>
          </p:cNvPr>
          <p:cNvSpPr txBox="1"/>
          <p:nvPr/>
        </p:nvSpPr>
        <p:spPr>
          <a:xfrm>
            <a:off x="590550" y="725295"/>
            <a:ext cx="10887075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Elicitación de requisitos y análisis de riesgos</a:t>
            </a:r>
          </a:p>
        </p:txBody>
      </p:sp>
      <p:graphicFrame>
        <p:nvGraphicFramePr>
          <p:cNvPr id="2" name="Tabla 5">
            <a:extLst>
              <a:ext uri="{FF2B5EF4-FFF2-40B4-BE49-F238E27FC236}">
                <a16:creationId xmlns:a16="http://schemas.microsoft.com/office/drawing/2014/main" id="{074B4812-229D-E1C8-5F43-FABD120AC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7377"/>
              </p:ext>
            </p:extLst>
          </p:nvPr>
        </p:nvGraphicFramePr>
        <p:xfrm>
          <a:off x="1811337" y="2100791"/>
          <a:ext cx="8569326" cy="3452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4663">
                  <a:extLst>
                    <a:ext uri="{9D8B030D-6E8A-4147-A177-3AD203B41FA5}">
                      <a16:colId xmlns:a16="http://schemas.microsoft.com/office/drawing/2014/main" val="1964865381"/>
                    </a:ext>
                  </a:extLst>
                </a:gridCol>
                <a:gridCol w="4284663">
                  <a:extLst>
                    <a:ext uri="{9D8B030D-6E8A-4147-A177-3AD203B41FA5}">
                      <a16:colId xmlns:a16="http://schemas.microsoft.com/office/drawing/2014/main" val="3696513973"/>
                    </a:ext>
                  </a:extLst>
                </a:gridCol>
              </a:tblGrid>
              <a:tr h="431536">
                <a:tc>
                  <a:txBody>
                    <a:bodyPr/>
                    <a:lstStyle/>
                    <a:p>
                      <a:pPr algn="ctr"/>
                      <a:r>
                        <a:rPr lang="es-ES" sz="2200" dirty="0"/>
                        <a:t>Requisitos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200" dirty="0"/>
                        <a:t>Cantidad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7154553"/>
                  </a:ext>
                </a:extLst>
              </a:tr>
              <a:tr h="431536">
                <a:tc>
                  <a:txBody>
                    <a:bodyPr/>
                    <a:lstStyle/>
                    <a:p>
                      <a:r>
                        <a:rPr lang="es-ES" sz="2200" dirty="0"/>
                        <a:t>Técnicos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2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616339"/>
                  </a:ext>
                </a:extLst>
              </a:tr>
              <a:tr h="431536">
                <a:tc>
                  <a:txBody>
                    <a:bodyPr/>
                    <a:lstStyle/>
                    <a:p>
                      <a:r>
                        <a:rPr lang="es-ES" sz="2200" dirty="0"/>
                        <a:t>Funcionales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2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435448"/>
                  </a:ext>
                </a:extLst>
              </a:tr>
              <a:tr h="431536">
                <a:tc>
                  <a:txBody>
                    <a:bodyPr/>
                    <a:lstStyle/>
                    <a:p>
                      <a:r>
                        <a:rPr lang="es-ES" sz="2200" dirty="0"/>
                        <a:t>Interfaz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2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348310"/>
                  </a:ext>
                </a:extLst>
              </a:tr>
              <a:tr h="431536">
                <a:tc>
                  <a:txBody>
                    <a:bodyPr/>
                    <a:lstStyle/>
                    <a:p>
                      <a:r>
                        <a:rPr lang="es-ES" sz="2200" dirty="0"/>
                        <a:t>Calidad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2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066468"/>
                  </a:ext>
                </a:extLst>
              </a:tr>
              <a:tr h="431536">
                <a:tc>
                  <a:txBody>
                    <a:bodyPr/>
                    <a:lstStyle/>
                    <a:p>
                      <a:r>
                        <a:rPr lang="es-ES" sz="2200" dirty="0"/>
                        <a:t>Evolución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22160"/>
                  </a:ext>
                </a:extLst>
              </a:tr>
              <a:tr h="431536">
                <a:tc>
                  <a:txBody>
                    <a:bodyPr/>
                    <a:lstStyle/>
                    <a:p>
                      <a:r>
                        <a:rPr lang="es-ES" sz="2200" dirty="0"/>
                        <a:t>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2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157324"/>
                  </a:ext>
                </a:extLst>
              </a:tr>
              <a:tr h="431536">
                <a:tc>
                  <a:txBody>
                    <a:bodyPr/>
                    <a:lstStyle/>
                    <a:p>
                      <a:r>
                        <a:rPr lang="es-ES" sz="2200" dirty="0"/>
                        <a:t>Soporte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401666"/>
                  </a:ext>
                </a:extLst>
              </a:tr>
            </a:tbl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1A9E91-0977-81F7-F284-0FE9BCC3D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0141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78F1174-8A22-A87A-952C-878E829ECC71}"/>
              </a:ext>
            </a:extLst>
          </p:cNvPr>
          <p:cNvSpPr txBox="1"/>
          <p:nvPr/>
        </p:nvSpPr>
        <p:spPr>
          <a:xfrm>
            <a:off x="542925" y="725295"/>
            <a:ext cx="10877550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Elicitación de requisitos y análisis de riesgos</a:t>
            </a:r>
          </a:p>
        </p:txBody>
      </p:sp>
      <p:graphicFrame>
        <p:nvGraphicFramePr>
          <p:cNvPr id="8" name="Tabla 8">
            <a:extLst>
              <a:ext uri="{FF2B5EF4-FFF2-40B4-BE49-F238E27FC236}">
                <a16:creationId xmlns:a16="http://schemas.microsoft.com/office/drawing/2014/main" id="{28F2863A-6F23-3CF5-6C82-C29C231A3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902303"/>
              </p:ext>
            </p:extLst>
          </p:nvPr>
        </p:nvGraphicFramePr>
        <p:xfrm>
          <a:off x="979517" y="1651606"/>
          <a:ext cx="4155901" cy="4013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869">
                  <a:extLst>
                    <a:ext uri="{9D8B030D-6E8A-4147-A177-3AD203B41FA5}">
                      <a16:colId xmlns:a16="http://schemas.microsoft.com/office/drawing/2014/main" val="4137980085"/>
                    </a:ext>
                  </a:extLst>
                </a:gridCol>
                <a:gridCol w="1770341">
                  <a:extLst>
                    <a:ext uri="{9D8B030D-6E8A-4147-A177-3AD203B41FA5}">
                      <a16:colId xmlns:a16="http://schemas.microsoft.com/office/drawing/2014/main" val="651162630"/>
                    </a:ext>
                  </a:extLst>
                </a:gridCol>
                <a:gridCol w="1394691">
                  <a:extLst>
                    <a:ext uri="{9D8B030D-6E8A-4147-A177-3AD203B41FA5}">
                      <a16:colId xmlns:a16="http://schemas.microsoft.com/office/drawing/2014/main" val="2600370960"/>
                    </a:ext>
                  </a:extLst>
                </a:gridCol>
              </a:tblGrid>
              <a:tr h="457739">
                <a:tc>
                  <a:txBody>
                    <a:bodyPr/>
                    <a:lstStyle/>
                    <a:p>
                      <a:r>
                        <a:rPr lang="es-ES" sz="1300" b="1" i="0" u="none" strike="noStrike" baseline="0" dirty="0">
                          <a:latin typeface="Times New Roman" panose="02020603050405020304" pitchFamily="18" charset="0"/>
                        </a:rPr>
                        <a:t>Etiqueta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b="1" i="0" u="none" strike="noStrike" baseline="0">
                          <a:latin typeface="Times New Roman" panose="02020603050405020304" pitchFamily="18" charset="0"/>
                        </a:rPr>
                        <a:t>Riesgo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b="1" i="0" u="none" strike="noStrike" baseline="0">
                          <a:latin typeface="Times New Roman" panose="02020603050405020304" pitchFamily="18" charset="0"/>
                        </a:rPr>
                        <a:t>Representación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742205"/>
                  </a:ext>
                </a:extLst>
              </a:tr>
              <a:tr h="429130">
                <a:tc>
                  <a:txBody>
                    <a:bodyPr/>
                    <a:lstStyle/>
                    <a:p>
                      <a:r>
                        <a:rPr lang="es-ES"/>
                        <a:t>R0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Incumplimiento</a:t>
                      </a:r>
                    </a:p>
                    <a:p>
                      <a:r>
                        <a:rPr lang="es-ES" sz="12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 los tiempos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694629"/>
                  </a:ext>
                </a:extLst>
              </a:tr>
              <a:tr h="600782">
                <a:tc>
                  <a:txBody>
                    <a:bodyPr/>
                    <a:lstStyle/>
                    <a:p>
                      <a:r>
                        <a:rPr lang="es-ES"/>
                        <a:t>R1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Problemas en el</a:t>
                      </a:r>
                    </a:p>
                    <a:p>
                      <a:r>
                        <a:rPr lang="es-ES" sz="12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control de</a:t>
                      </a:r>
                    </a:p>
                    <a:p>
                      <a:r>
                        <a:rPr lang="es-ES" sz="12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Versiones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137895"/>
                  </a:ext>
                </a:extLst>
              </a:tr>
              <a:tr h="600782">
                <a:tc>
                  <a:txBody>
                    <a:bodyPr/>
                    <a:lstStyle/>
                    <a:p>
                      <a:r>
                        <a:rPr lang="es-ES"/>
                        <a:t>R2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Fallos en la implementación del código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737095"/>
                  </a:ext>
                </a:extLst>
              </a:tr>
              <a:tr h="600782">
                <a:tc>
                  <a:txBody>
                    <a:bodyPr/>
                    <a:lstStyle/>
                    <a:p>
                      <a:r>
                        <a:rPr lang="es-ES"/>
                        <a:t>R3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Errores de los</a:t>
                      </a:r>
                    </a:p>
                    <a:p>
                      <a:r>
                        <a:rPr lang="es-ES" sz="12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datos a emplear</a:t>
                      </a:r>
                    </a:p>
                    <a:p>
                      <a:r>
                        <a:rPr lang="es-ES" sz="12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para el sistema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613404"/>
                  </a:ext>
                </a:extLst>
              </a:tr>
              <a:tr h="473142">
                <a:tc>
                  <a:txBody>
                    <a:bodyPr/>
                    <a:lstStyle/>
                    <a:p>
                      <a:r>
                        <a:rPr lang="es-ES"/>
                        <a:t>R4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Falta organización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170604"/>
                  </a:ext>
                </a:extLst>
              </a:tr>
              <a:tr h="705393">
                <a:tc>
                  <a:txBody>
                    <a:bodyPr/>
                    <a:lstStyle/>
                    <a:p>
                      <a:r>
                        <a:rPr lang="es-ES"/>
                        <a:t>R5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Mal uso o</a:t>
                      </a:r>
                    </a:p>
                    <a:p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importación de las</a:t>
                      </a:r>
                    </a:p>
                    <a:p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Librerías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170897"/>
                  </a:ext>
                </a:extLst>
              </a:tr>
            </a:tbl>
          </a:graphicData>
        </a:graphic>
      </p:graphicFrame>
      <p:sp>
        <p:nvSpPr>
          <p:cNvPr id="9" name="Elipse 8">
            <a:extLst>
              <a:ext uri="{FF2B5EF4-FFF2-40B4-BE49-F238E27FC236}">
                <a16:creationId xmlns:a16="http://schemas.microsoft.com/office/drawing/2014/main" id="{935F71C9-F89C-95FF-7DCB-FF3EDA383149}"/>
              </a:ext>
            </a:extLst>
          </p:cNvPr>
          <p:cNvSpPr/>
          <p:nvPr/>
        </p:nvSpPr>
        <p:spPr>
          <a:xfrm>
            <a:off x="4309021" y="2280862"/>
            <a:ext cx="142875" cy="152400"/>
          </a:xfrm>
          <a:prstGeom prst="ellipse">
            <a:avLst/>
          </a:prstGeom>
          <a:solidFill>
            <a:srgbClr val="3608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70C00AC-5ACF-BEBD-5C5E-C36431106435}"/>
              </a:ext>
            </a:extLst>
          </p:cNvPr>
          <p:cNvSpPr/>
          <p:nvPr/>
        </p:nvSpPr>
        <p:spPr>
          <a:xfrm>
            <a:off x="4313785" y="5135947"/>
            <a:ext cx="142875" cy="152400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2569E2C-2AE7-9D42-ACF1-B840F0014FE3}"/>
              </a:ext>
            </a:extLst>
          </p:cNvPr>
          <p:cNvSpPr/>
          <p:nvPr/>
        </p:nvSpPr>
        <p:spPr>
          <a:xfrm>
            <a:off x="4313785" y="4112077"/>
            <a:ext cx="142875" cy="152400"/>
          </a:xfrm>
          <a:prstGeom prst="ellipse">
            <a:avLst/>
          </a:prstGeom>
          <a:solidFill>
            <a:srgbClr val="7F6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070C0"/>
              </a:solidFill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13CBBF0-6A01-A894-49E2-57F6B3DC33C5}"/>
              </a:ext>
            </a:extLst>
          </p:cNvPr>
          <p:cNvSpPr/>
          <p:nvPr/>
        </p:nvSpPr>
        <p:spPr>
          <a:xfrm>
            <a:off x="4313785" y="3481012"/>
            <a:ext cx="142875" cy="152400"/>
          </a:xfrm>
          <a:prstGeom prst="ellipse">
            <a:avLst/>
          </a:prstGeom>
          <a:solidFill>
            <a:srgbClr val="0D0D0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BB97710C-B39D-F62A-D55B-B06187C41F75}"/>
              </a:ext>
            </a:extLst>
          </p:cNvPr>
          <p:cNvSpPr/>
          <p:nvPr/>
        </p:nvSpPr>
        <p:spPr>
          <a:xfrm>
            <a:off x="4309022" y="2823787"/>
            <a:ext cx="142875" cy="152400"/>
          </a:xfrm>
          <a:prstGeom prst="ellipse">
            <a:avLst/>
          </a:prstGeom>
          <a:solidFill>
            <a:srgbClr val="38943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BEA848D0-4792-6FC3-EB8B-DF7F9F8EEA63}"/>
              </a:ext>
            </a:extLst>
          </p:cNvPr>
          <p:cNvSpPr/>
          <p:nvPr/>
        </p:nvSpPr>
        <p:spPr>
          <a:xfrm>
            <a:off x="4313785" y="4624012"/>
            <a:ext cx="142875" cy="152400"/>
          </a:xfrm>
          <a:prstGeom prst="ellipse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AAF3AB7-11C8-A558-702D-7247CD680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7</a:t>
            </a:fld>
            <a:endParaRPr lang="es-ES"/>
          </a:p>
        </p:txBody>
      </p:sp>
      <p:graphicFrame>
        <p:nvGraphicFramePr>
          <p:cNvPr id="4" name="Tabla 8">
            <a:extLst>
              <a:ext uri="{FF2B5EF4-FFF2-40B4-BE49-F238E27FC236}">
                <a16:creationId xmlns:a16="http://schemas.microsoft.com/office/drawing/2014/main" id="{02DB0526-B851-E760-8CE4-DE02997A0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632273"/>
              </p:ext>
            </p:extLst>
          </p:nvPr>
        </p:nvGraphicFramePr>
        <p:xfrm>
          <a:off x="6704591" y="1651606"/>
          <a:ext cx="4231263" cy="3997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869">
                  <a:extLst>
                    <a:ext uri="{9D8B030D-6E8A-4147-A177-3AD203B41FA5}">
                      <a16:colId xmlns:a16="http://schemas.microsoft.com/office/drawing/2014/main" val="4137980085"/>
                    </a:ext>
                  </a:extLst>
                </a:gridCol>
                <a:gridCol w="1882648">
                  <a:extLst>
                    <a:ext uri="{9D8B030D-6E8A-4147-A177-3AD203B41FA5}">
                      <a16:colId xmlns:a16="http://schemas.microsoft.com/office/drawing/2014/main" val="651162630"/>
                    </a:ext>
                  </a:extLst>
                </a:gridCol>
                <a:gridCol w="1357746">
                  <a:extLst>
                    <a:ext uri="{9D8B030D-6E8A-4147-A177-3AD203B41FA5}">
                      <a16:colId xmlns:a16="http://schemas.microsoft.com/office/drawing/2014/main" val="2600370960"/>
                    </a:ext>
                  </a:extLst>
                </a:gridCol>
              </a:tblGrid>
              <a:tr h="457739">
                <a:tc>
                  <a:txBody>
                    <a:bodyPr/>
                    <a:lstStyle/>
                    <a:p>
                      <a:r>
                        <a:rPr lang="es-ES" sz="1300" b="1" i="0" u="none" strike="noStrike" baseline="0" dirty="0">
                          <a:latin typeface="Times New Roman" panose="02020603050405020304" pitchFamily="18" charset="0"/>
                        </a:rPr>
                        <a:t>Etiqueta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b="1" i="0" u="none" strike="noStrike" baseline="0" dirty="0">
                          <a:latin typeface="Times New Roman" panose="02020603050405020304" pitchFamily="18" charset="0"/>
                        </a:rPr>
                        <a:t>Riesgo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300" b="1" i="0" u="none" strike="noStrike" baseline="0" dirty="0">
                          <a:latin typeface="Times New Roman" panose="02020603050405020304" pitchFamily="18" charset="0"/>
                        </a:rPr>
                        <a:t>Representación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742205"/>
                  </a:ext>
                </a:extLst>
              </a:tr>
              <a:tr h="429130">
                <a:tc>
                  <a:txBody>
                    <a:bodyPr/>
                    <a:lstStyle/>
                    <a:p>
                      <a:r>
                        <a:rPr lang="es-ES" dirty="0"/>
                        <a:t>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Pérdida de los</a:t>
                      </a:r>
                    </a:p>
                    <a:p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resultados</a:t>
                      </a:r>
                    </a:p>
                    <a:p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Obtenidos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694629"/>
                  </a:ext>
                </a:extLst>
              </a:tr>
              <a:tr h="600782">
                <a:tc>
                  <a:txBody>
                    <a:bodyPr/>
                    <a:lstStyle/>
                    <a:p>
                      <a:r>
                        <a:rPr lang="es-ES" dirty="0"/>
                        <a:t>R7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Fallos con las herramientas o tecnologías empleadas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137895"/>
                  </a:ext>
                </a:extLst>
              </a:tr>
              <a:tr h="600782">
                <a:tc>
                  <a:txBody>
                    <a:bodyPr/>
                    <a:lstStyle/>
                    <a:p>
                      <a:r>
                        <a:rPr lang="es-ES" dirty="0"/>
                        <a:t>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Incongruencia con los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737095"/>
                  </a:ext>
                </a:extLst>
              </a:tr>
              <a:tr h="600782">
                <a:tc>
                  <a:txBody>
                    <a:bodyPr/>
                    <a:lstStyle/>
                    <a:p>
                      <a:r>
                        <a:rPr lang="es-ES" dirty="0"/>
                        <a:t>R9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Dependencia de nuevos recursos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613404"/>
                  </a:ext>
                </a:extLst>
              </a:tr>
              <a:tr h="343304">
                <a:tc>
                  <a:txBody>
                    <a:bodyPr/>
                    <a:lstStyle/>
                    <a:p>
                      <a:r>
                        <a:rPr lang="es-ES" dirty="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Aborto de la ejecución del sistema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170604"/>
                  </a:ext>
                </a:extLst>
              </a:tr>
              <a:tr h="600782">
                <a:tc>
                  <a:txBody>
                    <a:bodyPr/>
                    <a:lstStyle/>
                    <a:p>
                      <a:r>
                        <a:rPr lang="es-ES" dirty="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Actualizaciones o modificaciones de alguna tecnología utilizada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170897"/>
                  </a:ext>
                </a:extLst>
              </a:tr>
            </a:tbl>
          </a:graphicData>
        </a:graphic>
      </p:graphicFrame>
      <p:sp>
        <p:nvSpPr>
          <p:cNvPr id="5" name="Elipse 4">
            <a:extLst>
              <a:ext uri="{FF2B5EF4-FFF2-40B4-BE49-F238E27FC236}">
                <a16:creationId xmlns:a16="http://schemas.microsoft.com/office/drawing/2014/main" id="{F63E6822-10F7-1D48-EB34-3AEA678425FE}"/>
              </a:ext>
            </a:extLst>
          </p:cNvPr>
          <p:cNvSpPr/>
          <p:nvPr/>
        </p:nvSpPr>
        <p:spPr>
          <a:xfrm>
            <a:off x="10208778" y="2357062"/>
            <a:ext cx="142875" cy="152400"/>
          </a:xfrm>
          <a:prstGeom prst="ellipse">
            <a:avLst/>
          </a:prstGeom>
          <a:solidFill>
            <a:srgbClr val="C10BC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8B5A514-D1BC-3442-7191-727CE76CB366}"/>
              </a:ext>
            </a:extLst>
          </p:cNvPr>
          <p:cNvSpPr/>
          <p:nvPr/>
        </p:nvSpPr>
        <p:spPr>
          <a:xfrm>
            <a:off x="10197522" y="2971223"/>
            <a:ext cx="127000" cy="128905"/>
          </a:xfrm>
          <a:prstGeom prst="ellipse">
            <a:avLst/>
          </a:prstGeom>
          <a:solidFill>
            <a:srgbClr val="4BACC6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A36581EE-2EC3-68BE-E6E3-86195CD87559}"/>
              </a:ext>
            </a:extLst>
          </p:cNvPr>
          <p:cNvSpPr/>
          <p:nvPr/>
        </p:nvSpPr>
        <p:spPr>
          <a:xfrm>
            <a:off x="10204507" y="3561889"/>
            <a:ext cx="127000" cy="128905"/>
          </a:xfrm>
          <a:prstGeom prst="ellipse">
            <a:avLst/>
          </a:prstGeom>
          <a:solidFill>
            <a:srgbClr val="B3393C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41138135-21CA-46AE-7FDD-2A58739F35B7}"/>
              </a:ext>
            </a:extLst>
          </p:cNvPr>
          <p:cNvSpPr/>
          <p:nvPr/>
        </p:nvSpPr>
        <p:spPr>
          <a:xfrm>
            <a:off x="10204507" y="4164100"/>
            <a:ext cx="133985" cy="109220"/>
          </a:xfrm>
          <a:prstGeom prst="ellipse">
            <a:avLst/>
          </a:prstGeom>
          <a:solidFill>
            <a:srgbClr val="92D05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ED3A7CD5-1211-2D30-6BBB-5A59A5B796AE}"/>
              </a:ext>
            </a:extLst>
          </p:cNvPr>
          <p:cNvSpPr/>
          <p:nvPr/>
        </p:nvSpPr>
        <p:spPr>
          <a:xfrm>
            <a:off x="10204507" y="4746626"/>
            <a:ext cx="133985" cy="109220"/>
          </a:xfrm>
          <a:prstGeom prst="ellipse">
            <a:avLst/>
          </a:prstGeom>
          <a:solidFill>
            <a:srgbClr val="7030A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D7BEBCE-0B8D-0E43-C45D-CAB49B139997}"/>
              </a:ext>
            </a:extLst>
          </p:cNvPr>
          <p:cNvSpPr/>
          <p:nvPr/>
        </p:nvSpPr>
        <p:spPr>
          <a:xfrm>
            <a:off x="10204507" y="5274542"/>
            <a:ext cx="133985" cy="109220"/>
          </a:xfrm>
          <a:prstGeom prst="ellipse">
            <a:avLst/>
          </a:prstGeom>
          <a:solidFill>
            <a:srgbClr val="3FEDF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3303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407AF-B734-8E0A-9B4F-EB7469333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F35973-AC81-6B7A-115B-DE57F36A7576}"/>
              </a:ext>
            </a:extLst>
          </p:cNvPr>
          <p:cNvSpPr txBox="1"/>
          <p:nvPr/>
        </p:nvSpPr>
        <p:spPr>
          <a:xfrm>
            <a:off x="542925" y="725295"/>
            <a:ext cx="10877550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Elicitación de requisitos y análisis de riesgos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AA55593-0320-A408-6FBB-7718A0E2D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8</a:t>
            </a:fld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C2C5E95-7BE1-8976-4B3D-EAA683E04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114" y="1696309"/>
            <a:ext cx="9891771" cy="409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7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áfico 29" descr="Estadísticas contorno">
            <a:extLst>
              <a:ext uri="{FF2B5EF4-FFF2-40B4-BE49-F238E27FC236}">
                <a16:creationId xmlns:a16="http://schemas.microsoft.com/office/drawing/2014/main" id="{1155F32D-1FDA-802F-FA27-8306143D5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3328" y="3765887"/>
            <a:ext cx="914400" cy="914400"/>
          </a:xfrm>
          <a:prstGeom prst="rect">
            <a:avLst/>
          </a:prstGeom>
        </p:spPr>
      </p:pic>
      <p:pic>
        <p:nvPicPr>
          <p:cNvPr id="54" name="Gráfico 53" descr="Procesador con relleno sólido">
            <a:extLst>
              <a:ext uri="{FF2B5EF4-FFF2-40B4-BE49-F238E27FC236}">
                <a16:creationId xmlns:a16="http://schemas.microsoft.com/office/drawing/2014/main" id="{4FF59C22-356E-EF78-577F-6BBEAC80CD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3264" y="1726608"/>
            <a:ext cx="914400" cy="9144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78F1174-8A22-A87A-952C-878E829ECC71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Diseño del sistema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40E97D6-6386-1CD3-D8AB-D14F1A6CC3E7}"/>
              </a:ext>
            </a:extLst>
          </p:cNvPr>
          <p:cNvSpPr/>
          <p:nvPr/>
        </p:nvSpPr>
        <p:spPr>
          <a:xfrm>
            <a:off x="2247901" y="2982078"/>
            <a:ext cx="1466850" cy="466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Datos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9E7D84D-CA49-72D4-2DAD-2FB4153E9CBD}"/>
              </a:ext>
            </a:extLst>
          </p:cNvPr>
          <p:cNvSpPr/>
          <p:nvPr/>
        </p:nvSpPr>
        <p:spPr>
          <a:xfrm>
            <a:off x="5191127" y="2982080"/>
            <a:ext cx="1571623" cy="466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Procesamiento de los datos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5778072-A850-212D-E258-ACF3DE58CA4B}"/>
              </a:ext>
            </a:extLst>
          </p:cNvPr>
          <p:cNvSpPr/>
          <p:nvPr/>
        </p:nvSpPr>
        <p:spPr>
          <a:xfrm>
            <a:off x="6657977" y="4708195"/>
            <a:ext cx="1666875" cy="466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Explicabilidad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8FD2219-7C16-F2BD-879C-4042CD39698E}"/>
              </a:ext>
            </a:extLst>
          </p:cNvPr>
          <p:cNvSpPr/>
          <p:nvPr/>
        </p:nvSpPr>
        <p:spPr>
          <a:xfrm>
            <a:off x="3724278" y="4708195"/>
            <a:ext cx="1466850" cy="466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Evaluación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D9B75DB-1136-E2F9-1961-03F93067CFBC}"/>
              </a:ext>
            </a:extLst>
          </p:cNvPr>
          <p:cNvSpPr/>
          <p:nvPr/>
        </p:nvSpPr>
        <p:spPr>
          <a:xfrm>
            <a:off x="7998619" y="2982077"/>
            <a:ext cx="1666875" cy="466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Entrenamiento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5C981F7-3C67-2540-DA0A-646DB8C025D1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3714751" y="3215441"/>
            <a:ext cx="1476376" cy="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EE256361-C787-BAFC-09F6-0692D988FC54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6762750" y="3215440"/>
            <a:ext cx="1235869" cy="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8096F4E6-071F-DFBC-9409-A9EDC8383275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>
          <a:xfrm flipH="1">
            <a:off x="5191128" y="4941558"/>
            <a:ext cx="146684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AEECA610-AAD2-3FDD-AD38-437ACE126125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8832057" y="3448802"/>
            <a:ext cx="0" cy="149275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6E15BDD3-70C7-FF16-BD3B-15C6F2D8E608}"/>
              </a:ext>
            </a:extLst>
          </p:cNvPr>
          <p:cNvCxnSpPr>
            <a:cxnSpLocks/>
          </p:cNvCxnSpPr>
          <p:nvPr/>
        </p:nvCxnSpPr>
        <p:spPr>
          <a:xfrm flipH="1" flipV="1">
            <a:off x="8324853" y="4941556"/>
            <a:ext cx="507204" cy="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Gráfico 45" descr="Base de datos contorno">
            <a:extLst>
              <a:ext uri="{FF2B5EF4-FFF2-40B4-BE49-F238E27FC236}">
                <a16:creationId xmlns:a16="http://schemas.microsoft.com/office/drawing/2014/main" id="{EA9F3058-1968-5FAB-178D-CF4441488C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93187" y="1939468"/>
            <a:ext cx="914400" cy="914400"/>
          </a:xfrm>
          <a:prstGeom prst="rect">
            <a:avLst/>
          </a:prstGeom>
        </p:spPr>
      </p:pic>
      <p:pic>
        <p:nvPicPr>
          <p:cNvPr id="50" name="Gráfico 49" descr="Matemáticas con relleno sólido">
            <a:extLst>
              <a:ext uri="{FF2B5EF4-FFF2-40B4-BE49-F238E27FC236}">
                <a16:creationId xmlns:a16="http://schemas.microsoft.com/office/drawing/2014/main" id="{9C5D273F-8356-AD8A-2749-F403F3CC54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63221" y="2015785"/>
            <a:ext cx="914400" cy="914400"/>
          </a:xfrm>
          <a:prstGeom prst="rect">
            <a:avLst/>
          </a:prstGeom>
        </p:spPr>
      </p:pic>
      <p:pic>
        <p:nvPicPr>
          <p:cNvPr id="60" name="Gráfico 59" descr="Ejecutar contorno">
            <a:extLst>
              <a:ext uri="{FF2B5EF4-FFF2-40B4-BE49-F238E27FC236}">
                <a16:creationId xmlns:a16="http://schemas.microsoft.com/office/drawing/2014/main" id="{46931E06-043D-8C61-8A06-37B455A978F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99003" y="2023017"/>
            <a:ext cx="914400" cy="914400"/>
          </a:xfrm>
          <a:prstGeom prst="rect">
            <a:avLst/>
          </a:prstGeom>
        </p:spPr>
      </p:pic>
      <p:pic>
        <p:nvPicPr>
          <p:cNvPr id="58" name="Gráfico 57" descr="Red contorno">
            <a:extLst>
              <a:ext uri="{FF2B5EF4-FFF2-40B4-BE49-F238E27FC236}">
                <a16:creationId xmlns:a16="http://schemas.microsoft.com/office/drawing/2014/main" id="{83CE9E43-08EC-190B-C676-1691032A166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910810" y="1973536"/>
            <a:ext cx="914400" cy="914400"/>
          </a:xfrm>
          <a:prstGeom prst="rect">
            <a:avLst/>
          </a:prstGeom>
        </p:spPr>
      </p:pic>
      <p:pic>
        <p:nvPicPr>
          <p:cNvPr id="56" name="Gráfico 55" descr="Cerebro con relleno sólido">
            <a:extLst>
              <a:ext uri="{FF2B5EF4-FFF2-40B4-BE49-F238E27FC236}">
                <a16:creationId xmlns:a16="http://schemas.microsoft.com/office/drawing/2014/main" id="{5F5DFDCB-2F3B-2857-5F6F-E282B6D65E5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06098" y="2023017"/>
            <a:ext cx="914400" cy="91440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A63D55-F22A-3B0D-27F8-96D491DA3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9</a:t>
            </a:fld>
            <a:endParaRPr lang="es-ES"/>
          </a:p>
        </p:txBody>
      </p:sp>
      <p:pic>
        <p:nvPicPr>
          <p:cNvPr id="22" name="Gráfico 21" descr="Portapapeles con relleno sólido">
            <a:extLst>
              <a:ext uri="{FF2B5EF4-FFF2-40B4-BE49-F238E27FC236}">
                <a16:creationId xmlns:a16="http://schemas.microsoft.com/office/drawing/2014/main" id="{0B440396-72F3-9A27-B765-19BDC160A9B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77452" y="3737979"/>
            <a:ext cx="914400" cy="914400"/>
          </a:xfrm>
          <a:prstGeom prst="rect">
            <a:avLst/>
          </a:prstGeom>
        </p:spPr>
      </p:pic>
      <p:pic>
        <p:nvPicPr>
          <p:cNvPr id="25" name="Gráfico 24" descr="Inteligencia artificial contorno">
            <a:extLst>
              <a:ext uri="{FF2B5EF4-FFF2-40B4-BE49-F238E27FC236}">
                <a16:creationId xmlns:a16="http://schemas.microsoft.com/office/drawing/2014/main" id="{B89109C8-DFE5-2069-522E-E5EC0BCA4A7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386999" y="3730450"/>
            <a:ext cx="914400" cy="914400"/>
          </a:xfrm>
          <a:prstGeom prst="rect">
            <a:avLst/>
          </a:prstGeom>
        </p:spPr>
      </p:pic>
      <p:pic>
        <p:nvPicPr>
          <p:cNvPr id="27" name="Gráfico 26" descr="Diagrama de Venn contorno">
            <a:extLst>
              <a:ext uri="{FF2B5EF4-FFF2-40B4-BE49-F238E27FC236}">
                <a16:creationId xmlns:a16="http://schemas.microsoft.com/office/drawing/2014/main" id="{A76934FF-409F-FA09-794F-BD29D33F272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35277" y="3737979"/>
            <a:ext cx="914400" cy="914400"/>
          </a:xfrm>
          <a:prstGeom prst="rect">
            <a:avLst/>
          </a:prstGeom>
        </p:spPr>
      </p:pic>
      <p:sp>
        <p:nvSpPr>
          <p:cNvPr id="28" name="Es igual a 27">
            <a:extLst>
              <a:ext uri="{FF2B5EF4-FFF2-40B4-BE49-F238E27FC236}">
                <a16:creationId xmlns:a16="http://schemas.microsoft.com/office/drawing/2014/main" id="{D89BE93D-1149-4A74-3A0F-DDDDAD1CF949}"/>
              </a:ext>
            </a:extLst>
          </p:cNvPr>
          <p:cNvSpPr/>
          <p:nvPr/>
        </p:nvSpPr>
        <p:spPr>
          <a:xfrm>
            <a:off x="4105019" y="4064593"/>
            <a:ext cx="743696" cy="555812"/>
          </a:xfrm>
          <a:prstGeom prst="mathEqual">
            <a:avLst/>
          </a:prstGeom>
          <a:solidFill>
            <a:schemeClr val="accent1">
              <a:lumMod val="50000"/>
            </a:schemeClr>
          </a:solidFill>
          <a:ln w="9525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671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DD4D3-BAE3-7999-5891-024521EE3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F181583-0505-85D3-1C4C-3A63798BDC68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Diseño del sistema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F80E44-436D-333B-92CD-7A522C199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10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FDA6E86-D286-7452-07E0-A01A91A7E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293" y="1823289"/>
            <a:ext cx="8147414" cy="358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457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78F1174-8A22-A87A-952C-878E829ECC71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Implementación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BE396FC-BB96-C59C-04C5-F916B7220722}"/>
              </a:ext>
            </a:extLst>
          </p:cNvPr>
          <p:cNvSpPr txBox="1"/>
          <p:nvPr/>
        </p:nvSpPr>
        <p:spPr>
          <a:xfrm>
            <a:off x="3190875" y="1787122"/>
            <a:ext cx="182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accent1">
                    <a:lumMod val="75000"/>
                  </a:schemeClr>
                </a:solidFill>
              </a:rPr>
              <a:t>Tecnologías empleadas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3F2FCE9-BE5D-A00F-F019-1D69D84E6ADF}"/>
              </a:ext>
            </a:extLst>
          </p:cNvPr>
          <p:cNvSpPr txBox="1"/>
          <p:nvPr/>
        </p:nvSpPr>
        <p:spPr>
          <a:xfrm>
            <a:off x="8676375" y="1971789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accent1">
                    <a:lumMod val="75000"/>
                  </a:schemeClr>
                </a:solidFill>
              </a:rPr>
              <a:t>Desarrollo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7ACED76-B765-4DB1-45AE-15BAA59CD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492" y="3058448"/>
            <a:ext cx="1699679" cy="1134816"/>
          </a:xfrm>
          <a:prstGeom prst="rect">
            <a:avLst/>
          </a:prstGeom>
        </p:spPr>
      </p:pic>
      <p:pic>
        <p:nvPicPr>
          <p:cNvPr id="1030" name="Picture 6" descr="Qué es Python? El lenguaje de Programación Padre">
            <a:extLst>
              <a:ext uri="{FF2B5EF4-FFF2-40B4-BE49-F238E27FC236}">
                <a16:creationId xmlns:a16="http://schemas.microsoft.com/office/drawing/2014/main" id="{B3CFDD06-EF53-628B-9247-C1382F576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9113" y="2825681"/>
            <a:ext cx="1815706" cy="1134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ensorFlow - Viquipèdia, l'enciclopèdia lliure">
            <a:extLst>
              <a:ext uri="{FF2B5EF4-FFF2-40B4-BE49-F238E27FC236}">
                <a16:creationId xmlns:a16="http://schemas.microsoft.com/office/drawing/2014/main" id="{46A56145-EDBD-5FFF-2BB1-174504150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934" y="3960497"/>
            <a:ext cx="2024064" cy="129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AutoShape 10" descr="GitHub Logo | significado del logotipo, png, vector">
            <a:extLst>
              <a:ext uri="{FF2B5EF4-FFF2-40B4-BE49-F238E27FC236}">
                <a16:creationId xmlns:a16="http://schemas.microsoft.com/office/drawing/2014/main" id="{34CDC355-95B7-CDFB-9450-DFFC59BEEE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3CC8EA3-C5C1-441F-3099-0CA41A8BC7BE}"/>
              </a:ext>
            </a:extLst>
          </p:cNvPr>
          <p:cNvSpPr txBox="1"/>
          <p:nvPr/>
        </p:nvSpPr>
        <p:spPr>
          <a:xfrm>
            <a:off x="7781925" y="2868007"/>
            <a:ext cx="36177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Elección entre las distintas metodologías para cada fase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Aplicación de varias arquitecturas de redes neuronales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Uso de distintas técnicas para la </a:t>
            </a:r>
            <a:r>
              <a:rPr lang="es-ES" dirty="0" err="1"/>
              <a:t>explicabilidad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Comparación entre los resultados obtenidos por cada modelo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0F47BB-44E8-0CD8-5B6D-A59E7180B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11</a:t>
            </a:fld>
            <a:endParaRPr lang="es-ES"/>
          </a:p>
        </p:txBody>
      </p:sp>
      <p:pic>
        <p:nvPicPr>
          <p:cNvPr id="1026" name="Picture 2" descr="The Ultralytics Brand">
            <a:extLst>
              <a:ext uri="{FF2B5EF4-FFF2-40B4-BE49-F238E27FC236}">
                <a16:creationId xmlns:a16="http://schemas.microsoft.com/office/drawing/2014/main" id="{620178B0-EB21-8A1D-EB5C-D805DF42E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408329"/>
            <a:ext cx="2590800" cy="465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126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E6A26-48FB-4F01-909B-126555263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C1CEE0A-7DF6-24F4-7362-72C774ED4F2B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s-ES" sz="4800" dirty="0">
                <a:solidFill>
                  <a:srgbClr val="0070C0"/>
                </a:solidFill>
                <a:latin typeface="+mj-lt"/>
              </a:rPr>
              <a:t>Desarrollo</a:t>
            </a:r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560CE9-6AA8-49FB-6F39-8730382541A3}"/>
              </a:ext>
            </a:extLst>
          </p:cNvPr>
          <p:cNvSpPr txBox="1"/>
          <p:nvPr/>
        </p:nvSpPr>
        <p:spPr>
          <a:xfrm>
            <a:off x="5393309" y="1264210"/>
            <a:ext cx="8542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b="1" dirty="0">
                <a:solidFill>
                  <a:srgbClr val="75B6E5"/>
                </a:solidFill>
              </a:rPr>
              <a:t>Datos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D414287-4A0D-0A47-46CA-33770B56F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12</a:t>
            </a:fld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676A64F-31B3-FA00-B4AB-76CF990FC02D}"/>
              </a:ext>
            </a:extLst>
          </p:cNvPr>
          <p:cNvSpPr/>
          <p:nvPr/>
        </p:nvSpPr>
        <p:spPr>
          <a:xfrm>
            <a:off x="401564" y="1734791"/>
            <a:ext cx="4216400" cy="38709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AD71ABC3-630A-4297-605E-D828375BDF81}"/>
              </a:ext>
            </a:extLst>
          </p:cNvPr>
          <p:cNvSpPr/>
          <p:nvPr/>
        </p:nvSpPr>
        <p:spPr>
          <a:xfrm>
            <a:off x="7574036" y="1734791"/>
            <a:ext cx="4216400" cy="387096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B73C14C-5007-AB7D-2247-1719698AAED5}"/>
              </a:ext>
            </a:extLst>
          </p:cNvPr>
          <p:cNvSpPr txBox="1"/>
          <p:nvPr/>
        </p:nvSpPr>
        <p:spPr>
          <a:xfrm>
            <a:off x="1661404" y="2056301"/>
            <a:ext cx="169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DATASET CNN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65DBC3A-25B3-8FF4-68F3-12C719FC8B2B}"/>
              </a:ext>
            </a:extLst>
          </p:cNvPr>
          <p:cNvSpPr txBox="1"/>
          <p:nvPr/>
        </p:nvSpPr>
        <p:spPr>
          <a:xfrm>
            <a:off x="8833876" y="2056301"/>
            <a:ext cx="169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DATASET YOLO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C4570F4F-6F87-4652-56BC-30DB2A79E37B}"/>
              </a:ext>
            </a:extLst>
          </p:cNvPr>
          <p:cNvSpPr/>
          <p:nvPr/>
        </p:nvSpPr>
        <p:spPr>
          <a:xfrm>
            <a:off x="5262880" y="2933671"/>
            <a:ext cx="1535811" cy="1473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3988283-43CD-D368-328F-DA685FA0059E}"/>
              </a:ext>
            </a:extLst>
          </p:cNvPr>
          <p:cNvSpPr txBox="1"/>
          <p:nvPr/>
        </p:nvSpPr>
        <p:spPr>
          <a:xfrm>
            <a:off x="5182425" y="3455087"/>
            <a:ext cx="169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TEST DATA</a:t>
            </a:r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DE909E65-8F21-FC35-75F5-B87DE728A217}"/>
              </a:ext>
            </a:extLst>
          </p:cNvPr>
          <p:cNvSpPr/>
          <p:nvPr/>
        </p:nvSpPr>
        <p:spPr>
          <a:xfrm>
            <a:off x="4756717" y="3485605"/>
            <a:ext cx="417385" cy="36933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3BFCAC74-5FAF-006D-81A3-BCE201F8B194}"/>
              </a:ext>
            </a:extLst>
          </p:cNvPr>
          <p:cNvSpPr/>
          <p:nvPr/>
        </p:nvSpPr>
        <p:spPr>
          <a:xfrm rot="10800000">
            <a:off x="6967923" y="3485605"/>
            <a:ext cx="417385" cy="369332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68B171E-3571-E938-8340-840414FB14FA}"/>
              </a:ext>
            </a:extLst>
          </p:cNvPr>
          <p:cNvSpPr txBox="1"/>
          <p:nvPr/>
        </p:nvSpPr>
        <p:spPr>
          <a:xfrm>
            <a:off x="6850990" y="3912622"/>
            <a:ext cx="81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60 %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30C2567-1CC8-BE92-B0C7-6FF20925565E}"/>
              </a:ext>
            </a:extLst>
          </p:cNvPr>
          <p:cNvSpPr txBox="1"/>
          <p:nvPr/>
        </p:nvSpPr>
        <p:spPr>
          <a:xfrm>
            <a:off x="4487535" y="2184911"/>
            <a:ext cx="993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15 %</a:t>
            </a:r>
          </a:p>
          <a:p>
            <a:pPr algn="ctr"/>
            <a:r>
              <a:rPr lang="es-ES" b="1" dirty="0" err="1"/>
              <a:t>Nodule</a:t>
            </a:r>
            <a:endParaRPr lang="es-ES" b="1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B3C94ED-2C43-2C1E-BD1B-63F0DFF929DE}"/>
              </a:ext>
            </a:extLst>
          </p:cNvPr>
          <p:cNvSpPr txBox="1"/>
          <p:nvPr/>
        </p:nvSpPr>
        <p:spPr>
          <a:xfrm>
            <a:off x="4216139" y="4509300"/>
            <a:ext cx="1535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25 %</a:t>
            </a:r>
          </a:p>
          <a:p>
            <a:pPr algn="ctr"/>
            <a:r>
              <a:rPr lang="es-ES" b="1" dirty="0"/>
              <a:t>Non </a:t>
            </a:r>
            <a:r>
              <a:rPr lang="es-ES" b="1" dirty="0" err="1"/>
              <a:t>Nodule</a:t>
            </a:r>
            <a:endParaRPr lang="es-ES" b="1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3616DA4-668D-B191-2103-BE92DDF2B463}"/>
              </a:ext>
            </a:extLst>
          </p:cNvPr>
          <p:cNvSpPr txBox="1"/>
          <p:nvPr/>
        </p:nvSpPr>
        <p:spPr>
          <a:xfrm>
            <a:off x="4617964" y="3896353"/>
            <a:ext cx="81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40 %</a:t>
            </a:r>
          </a:p>
        </p:txBody>
      </p:sp>
      <p:graphicFrame>
        <p:nvGraphicFramePr>
          <p:cNvPr id="35" name="Tabla 34">
            <a:extLst>
              <a:ext uri="{FF2B5EF4-FFF2-40B4-BE49-F238E27FC236}">
                <a16:creationId xmlns:a16="http://schemas.microsoft.com/office/drawing/2014/main" id="{F8ED01A5-3D36-D394-AEC0-C508C9BE30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699725"/>
              </p:ext>
            </p:extLst>
          </p:nvPr>
        </p:nvGraphicFramePr>
        <p:xfrm>
          <a:off x="701359" y="2782454"/>
          <a:ext cx="168552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522">
                  <a:extLst>
                    <a:ext uri="{9D8B030D-6E8A-4147-A177-3AD203B41FA5}">
                      <a16:colId xmlns:a16="http://schemas.microsoft.com/office/drawing/2014/main" val="942326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Nodule</a:t>
                      </a:r>
                      <a:r>
                        <a:rPr lang="es-ES" dirty="0"/>
                        <a:t> (A)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571958"/>
                  </a:ext>
                </a:extLst>
              </a:tr>
            </a:tbl>
          </a:graphicData>
        </a:graphic>
      </p:graphicFrame>
      <p:graphicFrame>
        <p:nvGraphicFramePr>
          <p:cNvPr id="36" name="Tabla 35">
            <a:extLst>
              <a:ext uri="{FF2B5EF4-FFF2-40B4-BE49-F238E27FC236}">
                <a16:creationId xmlns:a16="http://schemas.microsoft.com/office/drawing/2014/main" id="{E9D0B784-F7F9-1A1E-08F3-B38279AA7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532715"/>
              </p:ext>
            </p:extLst>
          </p:nvPr>
        </p:nvGraphicFramePr>
        <p:xfrm>
          <a:off x="701358" y="3563466"/>
          <a:ext cx="174130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308">
                  <a:extLst>
                    <a:ext uri="{9D8B030D-6E8A-4147-A177-3AD203B41FA5}">
                      <a16:colId xmlns:a16="http://schemas.microsoft.com/office/drawing/2014/main" val="942326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Non </a:t>
                      </a:r>
                      <a:r>
                        <a:rPr lang="es-ES" dirty="0" err="1"/>
                        <a:t>Nodule</a:t>
                      </a:r>
                      <a:r>
                        <a:rPr lang="es-ES" dirty="0"/>
                        <a:t> (B)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571958"/>
                  </a:ext>
                </a:extLst>
              </a:tr>
            </a:tbl>
          </a:graphicData>
        </a:graphic>
      </p:graphicFrame>
      <p:sp>
        <p:nvSpPr>
          <p:cNvPr id="37" name="Abrir llave 36">
            <a:extLst>
              <a:ext uri="{FF2B5EF4-FFF2-40B4-BE49-F238E27FC236}">
                <a16:creationId xmlns:a16="http://schemas.microsoft.com/office/drawing/2014/main" id="{6F712387-905F-6CC4-F1D4-E2601460C285}"/>
              </a:ext>
            </a:extLst>
          </p:cNvPr>
          <p:cNvSpPr/>
          <p:nvPr/>
        </p:nvSpPr>
        <p:spPr>
          <a:xfrm rot="10800000">
            <a:off x="2505787" y="2746069"/>
            <a:ext cx="323661" cy="12399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Signo más 37">
            <a:extLst>
              <a:ext uri="{FF2B5EF4-FFF2-40B4-BE49-F238E27FC236}">
                <a16:creationId xmlns:a16="http://schemas.microsoft.com/office/drawing/2014/main" id="{42E6F3FA-C1FF-A9B7-9E80-B8FD9A1A87E9}"/>
              </a:ext>
            </a:extLst>
          </p:cNvPr>
          <p:cNvSpPr/>
          <p:nvPr/>
        </p:nvSpPr>
        <p:spPr>
          <a:xfrm>
            <a:off x="1330081" y="3187782"/>
            <a:ext cx="402764" cy="34119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40" name="Tabla 39">
            <a:extLst>
              <a:ext uri="{FF2B5EF4-FFF2-40B4-BE49-F238E27FC236}">
                <a16:creationId xmlns:a16="http://schemas.microsoft.com/office/drawing/2014/main" id="{DC90DC56-7234-984D-D736-D6946F27B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125720"/>
              </p:ext>
            </p:extLst>
          </p:nvPr>
        </p:nvGraphicFramePr>
        <p:xfrm>
          <a:off x="2909903" y="2782454"/>
          <a:ext cx="143723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236">
                  <a:extLst>
                    <a:ext uri="{9D8B030D-6E8A-4147-A177-3AD203B41FA5}">
                      <a16:colId xmlns:a16="http://schemas.microsoft.com/office/drawing/2014/main" val="859948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 +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019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Imágenes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296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Etiquetas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179559"/>
                  </a:ext>
                </a:extLst>
              </a:tr>
            </a:tbl>
          </a:graphicData>
        </a:graphic>
      </p:graphicFrame>
      <p:graphicFrame>
        <p:nvGraphicFramePr>
          <p:cNvPr id="41" name="Tabla 11">
            <a:extLst>
              <a:ext uri="{FF2B5EF4-FFF2-40B4-BE49-F238E27FC236}">
                <a16:creationId xmlns:a16="http://schemas.microsoft.com/office/drawing/2014/main" id="{B3CA366D-FBAB-25C5-8940-1FDA90459E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594401"/>
              </p:ext>
            </p:extLst>
          </p:nvPr>
        </p:nvGraphicFramePr>
        <p:xfrm>
          <a:off x="1016992" y="4255701"/>
          <a:ext cx="135255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174340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Train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360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 + B (80%)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218817"/>
                  </a:ext>
                </a:extLst>
              </a:tr>
            </a:tbl>
          </a:graphicData>
        </a:graphic>
      </p:graphicFrame>
      <p:graphicFrame>
        <p:nvGraphicFramePr>
          <p:cNvPr id="42" name="Tabla 11">
            <a:extLst>
              <a:ext uri="{FF2B5EF4-FFF2-40B4-BE49-F238E27FC236}">
                <a16:creationId xmlns:a16="http://schemas.microsoft.com/office/drawing/2014/main" id="{B4D48B05-09E7-DF11-C9F0-9A93F9FF2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98754"/>
              </p:ext>
            </p:extLst>
          </p:nvPr>
        </p:nvGraphicFramePr>
        <p:xfrm>
          <a:off x="2615289" y="4256839"/>
          <a:ext cx="1352550" cy="760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174340157"/>
                    </a:ext>
                  </a:extLst>
                </a:gridCol>
              </a:tblGrid>
              <a:tr h="380288">
                <a:tc>
                  <a:txBody>
                    <a:bodyPr/>
                    <a:lstStyle/>
                    <a:p>
                      <a:r>
                        <a:rPr lang="es-ES" dirty="0"/>
                        <a:t>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360551"/>
                  </a:ext>
                </a:extLst>
              </a:tr>
              <a:tr h="380288">
                <a:tc>
                  <a:txBody>
                    <a:bodyPr/>
                    <a:lstStyle/>
                    <a:p>
                      <a:r>
                        <a:rPr lang="es-ES" dirty="0"/>
                        <a:t>A + B (20%)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218817"/>
                  </a:ext>
                </a:extLst>
              </a:tr>
            </a:tbl>
          </a:graphicData>
        </a:graphic>
      </p:graphicFrame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4ED9BF10-1E9D-D292-BC65-184025AAA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536119"/>
              </p:ext>
            </p:extLst>
          </p:nvPr>
        </p:nvGraphicFramePr>
        <p:xfrm>
          <a:off x="7844861" y="2631522"/>
          <a:ext cx="1437236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37236">
                  <a:extLst>
                    <a:ext uri="{9D8B030D-6E8A-4147-A177-3AD203B41FA5}">
                      <a16:colId xmlns:a16="http://schemas.microsoft.com/office/drawing/2014/main" val="859948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Tr</a:t>
                      </a:r>
                      <a:r>
                        <a:rPr lang="es-ES" dirty="0"/>
                        <a:t>+ Val +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019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Imágenes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296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Etiquetas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179559"/>
                  </a:ext>
                </a:extLst>
              </a:tr>
            </a:tbl>
          </a:graphicData>
        </a:graphic>
      </p:graphicFrame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81B97B7F-C73A-C262-5075-EF159F2A6D12}"/>
              </a:ext>
            </a:extLst>
          </p:cNvPr>
          <p:cNvSpPr/>
          <p:nvPr/>
        </p:nvSpPr>
        <p:spPr>
          <a:xfrm>
            <a:off x="9444655" y="3349345"/>
            <a:ext cx="417385" cy="369332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0F90E6E9-B317-1323-219D-57C6F3703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373703"/>
              </p:ext>
            </p:extLst>
          </p:nvPr>
        </p:nvGraphicFramePr>
        <p:xfrm>
          <a:off x="9976988" y="2730047"/>
          <a:ext cx="1437236" cy="2225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37236">
                  <a:extLst>
                    <a:ext uri="{9D8B030D-6E8A-4147-A177-3AD203B41FA5}">
                      <a16:colId xmlns:a16="http://schemas.microsoft.com/office/drawing/2014/main" val="859948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Anotaciones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019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Clase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296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Pos</a:t>
                      </a:r>
                      <a:r>
                        <a:rPr lang="es-ES" dirty="0"/>
                        <a:t> 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179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Pos</a:t>
                      </a:r>
                      <a:r>
                        <a:rPr lang="es-ES" dirty="0"/>
                        <a:t>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986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Ancho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02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Alto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10888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51D06580-7009-7733-4513-C1E03148971D}"/>
              </a:ext>
            </a:extLst>
          </p:cNvPr>
          <p:cNvSpPr txBox="1"/>
          <p:nvPr/>
        </p:nvSpPr>
        <p:spPr>
          <a:xfrm>
            <a:off x="1755754" y="5102625"/>
            <a:ext cx="1535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1097 datos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7B1F775-22DE-1445-D94A-EB2F656438C2}"/>
              </a:ext>
            </a:extLst>
          </p:cNvPr>
          <p:cNvSpPr txBox="1"/>
          <p:nvPr/>
        </p:nvSpPr>
        <p:spPr>
          <a:xfrm>
            <a:off x="8914331" y="5043093"/>
            <a:ext cx="1535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2462 datos</a:t>
            </a:r>
          </a:p>
        </p:txBody>
      </p:sp>
    </p:spTree>
    <p:extLst>
      <p:ext uri="{BB962C8B-B14F-4D97-AF65-F5344CB8AC3E}">
        <p14:creationId xmlns:p14="http://schemas.microsoft.com/office/powerpoint/2010/main" val="3652346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04836-8641-891D-17DF-E6C3EF118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AF16493-4711-31CA-2954-46CE87AE700B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Desarrollo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97E8C4C-0E3F-71A4-A1B0-0E7C58AE9EDC}"/>
              </a:ext>
            </a:extLst>
          </p:cNvPr>
          <p:cNvSpPr txBox="1"/>
          <p:nvPr/>
        </p:nvSpPr>
        <p:spPr>
          <a:xfrm>
            <a:off x="4385572" y="1423731"/>
            <a:ext cx="34208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b="1" dirty="0">
                <a:solidFill>
                  <a:srgbClr val="75B6E5"/>
                </a:solidFill>
              </a:rPr>
              <a:t>Procesamiento de los datos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3E24175-CB7A-6EE6-8268-93E469CB00CF}"/>
              </a:ext>
            </a:extLst>
          </p:cNvPr>
          <p:cNvSpPr txBox="1"/>
          <p:nvPr/>
        </p:nvSpPr>
        <p:spPr>
          <a:xfrm>
            <a:off x="1171574" y="2528626"/>
            <a:ext cx="342085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dirty="0" err="1"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ImageDataGenerator</a:t>
            </a:r>
            <a:r>
              <a:rPr lang="es-E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 err="1"/>
              <a:t>OpenCV</a:t>
            </a: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 err="1"/>
              <a:t>Reescalado</a:t>
            </a:r>
            <a:r>
              <a:rPr lang="es-ES" sz="2000" dirty="0"/>
              <a:t>, normalización, cambio de dimensión</a:t>
            </a:r>
          </a:p>
          <a:p>
            <a:endParaRPr lang="es-ES" sz="20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B3A0F3-1E15-3B9E-1B7A-CEC5C361B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13</a:t>
            </a:fld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3DF4ABD-BDC4-89CE-BAA1-6622C2371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965" y="1905890"/>
            <a:ext cx="5572461" cy="346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42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78F1174-8A22-A87A-952C-878E829ECC71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Desarrollo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722A65F-3691-DDD9-C22B-B7944ED0B37F}"/>
              </a:ext>
            </a:extLst>
          </p:cNvPr>
          <p:cNvSpPr txBox="1"/>
          <p:nvPr/>
        </p:nvSpPr>
        <p:spPr>
          <a:xfrm>
            <a:off x="4624978" y="1340848"/>
            <a:ext cx="23908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b="1" dirty="0">
                <a:solidFill>
                  <a:srgbClr val="75B6E5"/>
                </a:solidFill>
              </a:rPr>
              <a:t>Redes Neuronales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E9B6023F-C911-2607-AA40-1D93B4DB0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09765"/>
              </p:ext>
            </p:extLst>
          </p:nvPr>
        </p:nvGraphicFramePr>
        <p:xfrm>
          <a:off x="7526043" y="2138891"/>
          <a:ext cx="3073895" cy="2995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895">
                  <a:extLst>
                    <a:ext uri="{9D8B030D-6E8A-4147-A177-3AD203B41FA5}">
                      <a16:colId xmlns:a16="http://schemas.microsoft.com/office/drawing/2014/main" val="521176633"/>
                    </a:ext>
                  </a:extLst>
                </a:gridCol>
              </a:tblGrid>
              <a:tr h="599017"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Hiperparámetros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799737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r>
                        <a:rPr lang="es-ES" dirty="0" err="1"/>
                        <a:t>Batch</a:t>
                      </a:r>
                      <a:r>
                        <a:rPr lang="es-ES" dirty="0"/>
                        <a:t> </a:t>
                      </a:r>
                      <a:r>
                        <a:rPr lang="es-ES" dirty="0" err="1"/>
                        <a:t>size</a:t>
                      </a:r>
                      <a:r>
                        <a:rPr lang="es-ES" dirty="0"/>
                        <a:t> = 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06857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r>
                        <a:rPr lang="es-ES" dirty="0" err="1"/>
                        <a:t>Early</a:t>
                      </a:r>
                      <a:r>
                        <a:rPr lang="es-ES" dirty="0"/>
                        <a:t> stop =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448422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r>
                        <a:rPr lang="es-ES" dirty="0" err="1"/>
                        <a:t>Epochs</a:t>
                      </a:r>
                      <a:r>
                        <a:rPr lang="es-ES" dirty="0"/>
                        <a:t> =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056227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r>
                        <a:rPr lang="es-ES" dirty="0"/>
                        <a:t>Learning </a:t>
                      </a:r>
                      <a:r>
                        <a:rPr lang="es-ES" dirty="0" err="1"/>
                        <a:t>rate</a:t>
                      </a:r>
                      <a:r>
                        <a:rPr lang="es-ES" dirty="0"/>
                        <a:t> = </a:t>
                      </a:r>
                      <a:r>
                        <a:rPr lang="es-ES" dirty="0" err="1"/>
                        <a:t>adam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251459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BE1F11B0-F953-E3BB-CD3C-05E36A83C522}"/>
              </a:ext>
            </a:extLst>
          </p:cNvPr>
          <p:cNvSpPr txBox="1"/>
          <p:nvPr/>
        </p:nvSpPr>
        <p:spPr>
          <a:xfrm>
            <a:off x="1171573" y="2613392"/>
            <a:ext cx="616539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Modelo diseñado usando </a:t>
            </a:r>
            <a:r>
              <a:rPr lang="es-ES" sz="2000" dirty="0" err="1"/>
              <a:t>Keras</a:t>
            </a:r>
            <a:r>
              <a:rPr lang="es-ES" sz="2000" dirty="0"/>
              <a:t> (44.397.122 </a:t>
            </a:r>
            <a:r>
              <a:rPr lang="es-ES" sz="2000" dirty="0" err="1"/>
              <a:t>params</a:t>
            </a:r>
            <a:r>
              <a:rPr lang="es-ES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VGG16 (14.764.866 </a:t>
            </a:r>
            <a:r>
              <a:rPr lang="es-ES" sz="2000" dirty="0" err="1"/>
              <a:t>params</a:t>
            </a:r>
            <a:r>
              <a:rPr lang="es-ES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 err="1"/>
              <a:t>Xception</a:t>
            </a:r>
            <a:r>
              <a:rPr lang="es-ES" sz="2000" dirty="0"/>
              <a:t> (21.062.186 </a:t>
            </a:r>
            <a:r>
              <a:rPr lang="es-ES" sz="2000" dirty="0" err="1"/>
              <a:t>params</a:t>
            </a:r>
            <a:r>
              <a:rPr lang="es-ES" sz="2000" dirty="0"/>
              <a:t>)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B7FF40-82C2-8BE7-EDCB-EDDEB6045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0106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2998FAA-74F3-A09A-7F73-6E017777B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15</a:t>
            </a:fld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1864257-5613-0BFB-4A29-8F6001BC1A76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Desarrollo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FCE7FB3-B4F3-4CE1-6C96-35F4ABC75622}"/>
              </a:ext>
            </a:extLst>
          </p:cNvPr>
          <p:cNvSpPr txBox="1"/>
          <p:nvPr/>
        </p:nvSpPr>
        <p:spPr>
          <a:xfrm>
            <a:off x="4624978" y="1340848"/>
            <a:ext cx="23908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b="1" dirty="0">
                <a:solidFill>
                  <a:srgbClr val="75B6E5"/>
                </a:solidFill>
              </a:rPr>
              <a:t>Redes Neuronales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BFF5D46-3597-8987-AA02-5A5CEE476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184" y="1771735"/>
            <a:ext cx="7731632" cy="408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45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F11BB-383E-1240-E9B2-8C844D09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B5003D2-A8B6-20DD-0C06-8DC5E564E1B1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Desarrollo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46627C5-F48C-E049-E614-AEA96EE30BE9}"/>
              </a:ext>
            </a:extLst>
          </p:cNvPr>
          <p:cNvSpPr txBox="1"/>
          <p:nvPr/>
        </p:nvSpPr>
        <p:spPr>
          <a:xfrm>
            <a:off x="4624978" y="1340848"/>
            <a:ext cx="23908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b="1" dirty="0">
                <a:solidFill>
                  <a:srgbClr val="75B6E5"/>
                </a:solidFill>
              </a:rPr>
              <a:t>YOLO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CF5F35-CCE5-1367-E8F2-49070300E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16</a:t>
            </a:fld>
            <a:endParaRPr lang="es-ES"/>
          </a:p>
        </p:txBody>
      </p:sp>
      <p:pic>
        <p:nvPicPr>
          <p:cNvPr id="5" name="Imagen 4" descr="YOLO Object Detection Introduction">
            <a:extLst>
              <a:ext uri="{FF2B5EF4-FFF2-40B4-BE49-F238E27FC236}">
                <a16:creationId xmlns:a16="http://schemas.microsoft.com/office/drawing/2014/main" id="{80B6BA16-D6A2-998A-CF62-6BB424AE30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40" y="2311088"/>
            <a:ext cx="9876519" cy="26989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932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4FB85-C312-C371-BEB8-1AB7EBF7E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C680060-F440-C272-74BB-A3A41D57D717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Desarrollo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064DCDE-8361-0F34-5DD8-73D5E17A8E30}"/>
              </a:ext>
            </a:extLst>
          </p:cNvPr>
          <p:cNvSpPr txBox="1"/>
          <p:nvPr/>
        </p:nvSpPr>
        <p:spPr>
          <a:xfrm>
            <a:off x="4624978" y="1340848"/>
            <a:ext cx="23908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b="1" dirty="0">
                <a:solidFill>
                  <a:srgbClr val="75B6E5"/>
                </a:solidFill>
              </a:rPr>
              <a:t>YOLO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EB85D3A6-B1AA-82AF-8F02-9D2875B65F3D}"/>
              </a:ext>
            </a:extLst>
          </p:cNvPr>
          <p:cNvGraphicFramePr>
            <a:graphicFrameLocks noGrp="1"/>
          </p:cNvGraphicFramePr>
          <p:nvPr/>
        </p:nvGraphicFramePr>
        <p:xfrm>
          <a:off x="1040905" y="2159211"/>
          <a:ext cx="3073895" cy="2995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895">
                  <a:extLst>
                    <a:ext uri="{9D8B030D-6E8A-4147-A177-3AD203B41FA5}">
                      <a16:colId xmlns:a16="http://schemas.microsoft.com/office/drawing/2014/main" val="521176633"/>
                    </a:ext>
                  </a:extLst>
                </a:gridCol>
              </a:tblGrid>
              <a:tr h="599017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Parámetros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799737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r>
                        <a:rPr lang="es-ES" dirty="0" err="1"/>
                        <a:t>Batch</a:t>
                      </a:r>
                      <a:r>
                        <a:rPr lang="es-ES" dirty="0"/>
                        <a:t> </a:t>
                      </a:r>
                      <a:r>
                        <a:rPr lang="es-ES" dirty="0" err="1"/>
                        <a:t>size</a:t>
                      </a:r>
                      <a:r>
                        <a:rPr lang="es-ES" dirty="0"/>
                        <a:t> = 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06857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r>
                        <a:rPr lang="es-ES" dirty="0" err="1"/>
                        <a:t>weights</a:t>
                      </a:r>
                      <a:r>
                        <a:rPr lang="es-ES" dirty="0"/>
                        <a:t> = pesos iniciales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448422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r>
                        <a:rPr lang="es-ES" dirty="0" err="1"/>
                        <a:t>Epochs</a:t>
                      </a:r>
                      <a:r>
                        <a:rPr lang="es-ES" dirty="0"/>
                        <a:t> =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056227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r>
                        <a:rPr lang="es-ES" dirty="0" err="1"/>
                        <a:t>img</a:t>
                      </a:r>
                      <a:r>
                        <a:rPr lang="es-ES" dirty="0"/>
                        <a:t> = dimensión de la imagen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251459"/>
                  </a:ext>
                </a:extLst>
              </a:tr>
            </a:tbl>
          </a:graphicData>
        </a:graphic>
      </p:graphicFrame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93268D-7CE7-A854-5B6F-0F8F618D0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17</a:t>
            </a:fld>
            <a:endParaRPr lang="es-ES"/>
          </a:p>
        </p:txBody>
      </p:sp>
      <p:pic>
        <p:nvPicPr>
          <p:cNvPr id="5" name="Imagen 4" descr="The architecture of the YOLO-v4 person detector. | Download Scientific  Diagram">
            <a:extLst>
              <a:ext uri="{FF2B5EF4-FFF2-40B4-BE49-F238E27FC236}">
                <a16:creationId xmlns:a16="http://schemas.microsoft.com/office/drawing/2014/main" id="{04EEC730-863D-1A18-1582-6E0168204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995" y="2283883"/>
            <a:ext cx="5402580" cy="27457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4777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F462CF-36ED-7ADF-AD11-2DC8944FF920}"/>
              </a:ext>
            </a:extLst>
          </p:cNvPr>
          <p:cNvSpPr txBox="1"/>
          <p:nvPr/>
        </p:nvSpPr>
        <p:spPr>
          <a:xfrm>
            <a:off x="387150" y="178798"/>
            <a:ext cx="31188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b="1" dirty="0">
                <a:solidFill>
                  <a:srgbClr val="75B6E5"/>
                </a:solidFill>
              </a:rPr>
              <a:t>Análisis de los resultados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E0382F7-87F2-C13E-15A6-756B6288C801}"/>
              </a:ext>
            </a:extLst>
          </p:cNvPr>
          <p:cNvSpPr txBox="1"/>
          <p:nvPr/>
        </p:nvSpPr>
        <p:spPr>
          <a:xfrm>
            <a:off x="457201" y="1719470"/>
            <a:ext cx="16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Modelo </a:t>
            </a:r>
            <a:r>
              <a:rPr lang="es-ES" dirty="0" err="1"/>
              <a:t>Keras</a:t>
            </a:r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5EF9503-B799-6310-D5E8-4A305DB5DA34}"/>
              </a:ext>
            </a:extLst>
          </p:cNvPr>
          <p:cNvSpPr txBox="1"/>
          <p:nvPr/>
        </p:nvSpPr>
        <p:spPr>
          <a:xfrm>
            <a:off x="457200" y="4438857"/>
            <a:ext cx="16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Modelo VGG16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2259752-5318-0CEC-0D45-987D357F5E07}"/>
              </a:ext>
            </a:extLst>
          </p:cNvPr>
          <p:cNvSpPr txBox="1"/>
          <p:nvPr/>
        </p:nvSpPr>
        <p:spPr>
          <a:xfrm>
            <a:off x="5915260" y="1646212"/>
            <a:ext cx="1123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Modelo </a:t>
            </a:r>
          </a:p>
          <a:p>
            <a:pPr algn="ctr"/>
            <a:r>
              <a:rPr lang="es-ES" dirty="0" err="1"/>
              <a:t>Xception</a:t>
            </a:r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47B0B99-6ED7-85F6-05A9-9E3238F187B8}"/>
              </a:ext>
            </a:extLst>
          </p:cNvPr>
          <p:cNvSpPr txBox="1"/>
          <p:nvPr/>
        </p:nvSpPr>
        <p:spPr>
          <a:xfrm>
            <a:off x="5915260" y="4300357"/>
            <a:ext cx="1123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Modelo </a:t>
            </a:r>
          </a:p>
          <a:p>
            <a:pPr algn="ctr"/>
            <a:r>
              <a:rPr lang="es-ES" dirty="0"/>
              <a:t>YOLO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3CAE9B6-A242-7B13-DB60-699E8AF97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18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760BC9A-62AC-004F-0C0B-4525D4BA5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39" y="530953"/>
            <a:ext cx="3206915" cy="293385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6DD1C93-208D-A087-2B10-E7379D52A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039" y="3374145"/>
            <a:ext cx="3219615" cy="2952902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CAA1405-D031-931A-FEC5-BC555BB62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7436" y="499276"/>
            <a:ext cx="3238666" cy="294020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8D294C31-722B-26D8-7E23-7EAF15D9E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7436" y="3347614"/>
            <a:ext cx="3187864" cy="292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007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BDB42-BDB1-5552-C8EE-32BA3125B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AC0CE53-B785-08DC-C7DB-3827D8EFE418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Desarrollo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073E0A1-C887-31A6-7D4F-1A4EF58B6A54}"/>
              </a:ext>
            </a:extLst>
          </p:cNvPr>
          <p:cNvSpPr txBox="1"/>
          <p:nvPr/>
        </p:nvSpPr>
        <p:spPr>
          <a:xfrm>
            <a:off x="4624978" y="1125405"/>
            <a:ext cx="23908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b="1" dirty="0" err="1">
                <a:solidFill>
                  <a:srgbClr val="75B6E5"/>
                </a:solidFill>
              </a:rPr>
              <a:t>Grad</a:t>
            </a:r>
            <a:r>
              <a:rPr lang="es-ES" sz="2200" b="1" dirty="0">
                <a:solidFill>
                  <a:srgbClr val="75B6E5"/>
                </a:solidFill>
              </a:rPr>
              <a:t>-CAM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4B7CC5-8C08-C95A-6C46-05781B06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19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40A86FD-46BA-F3FB-0391-38691B8E3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10" y="2404133"/>
            <a:ext cx="5414461" cy="2615754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776A1F9A-DE52-18D2-B865-47A4438CF6A0}"/>
              </a:ext>
            </a:extLst>
          </p:cNvPr>
          <p:cNvSpPr/>
          <p:nvPr/>
        </p:nvSpPr>
        <p:spPr>
          <a:xfrm>
            <a:off x="355600" y="3473027"/>
            <a:ext cx="1534160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EBF1E3C5-FBD0-1AD2-F57D-586E0EFAC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540" y="2595880"/>
            <a:ext cx="5402580" cy="242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82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956DF-B22E-4306-32FA-B9796C395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4E9EB5A-9D8E-4BF7-0AF3-92BA991D40C5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Desarrollo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29CE4A9-AEDD-A70D-C271-30FB0C08B45C}"/>
              </a:ext>
            </a:extLst>
          </p:cNvPr>
          <p:cNvSpPr txBox="1"/>
          <p:nvPr/>
        </p:nvSpPr>
        <p:spPr>
          <a:xfrm>
            <a:off x="4624978" y="1125405"/>
            <a:ext cx="23908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b="1" dirty="0" err="1">
                <a:solidFill>
                  <a:srgbClr val="75B6E5"/>
                </a:solidFill>
              </a:rPr>
              <a:t>Grad</a:t>
            </a:r>
            <a:r>
              <a:rPr lang="es-ES" sz="2200" b="1" dirty="0">
                <a:solidFill>
                  <a:srgbClr val="75B6E5"/>
                </a:solidFill>
              </a:rPr>
              <a:t>-CAM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6874E1-2BC5-3731-6AB9-524F0D16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20</a:t>
            </a:fld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230EE33-BDAF-376C-A1BE-B936CB8D9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559" y="1541654"/>
            <a:ext cx="6480939" cy="241189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B06F754-973C-CC77-1036-140743674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960" y="3895176"/>
            <a:ext cx="6606135" cy="241189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481564B-6E61-823B-7D8A-DDC3A3BAB51A}"/>
              </a:ext>
            </a:extLst>
          </p:cNvPr>
          <p:cNvSpPr txBox="1"/>
          <p:nvPr/>
        </p:nvSpPr>
        <p:spPr>
          <a:xfrm>
            <a:off x="1443064" y="2717121"/>
            <a:ext cx="23908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b="1" dirty="0" err="1">
                <a:solidFill>
                  <a:srgbClr val="75B6E5"/>
                </a:solidFill>
              </a:rPr>
              <a:t>Xception</a:t>
            </a:r>
            <a:endParaRPr lang="es-ES" sz="2200" b="1" dirty="0">
              <a:solidFill>
                <a:srgbClr val="75B6E5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8D16C67-37C4-D1C3-A580-986DFBE927C4}"/>
              </a:ext>
            </a:extLst>
          </p:cNvPr>
          <p:cNvSpPr txBox="1"/>
          <p:nvPr/>
        </p:nvSpPr>
        <p:spPr>
          <a:xfrm>
            <a:off x="1443064" y="5013281"/>
            <a:ext cx="23908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b="1" dirty="0">
                <a:solidFill>
                  <a:srgbClr val="75B6E5"/>
                </a:solidFill>
              </a:rPr>
              <a:t>VGG16</a:t>
            </a: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4CF1F1FD-D362-08D4-E1BC-2E78C8E2B117}"/>
              </a:ext>
            </a:extLst>
          </p:cNvPr>
          <p:cNvSpPr/>
          <p:nvPr/>
        </p:nvSpPr>
        <p:spPr>
          <a:xfrm>
            <a:off x="3679372" y="2836044"/>
            <a:ext cx="762000" cy="193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86201E29-D628-3CC1-6540-39FAB56E1DAE}"/>
              </a:ext>
            </a:extLst>
          </p:cNvPr>
          <p:cNvSpPr/>
          <p:nvPr/>
        </p:nvSpPr>
        <p:spPr>
          <a:xfrm>
            <a:off x="3679372" y="5132204"/>
            <a:ext cx="762000" cy="193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4592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EBE62-B2E6-9623-3640-51439D3EA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0C1B6F5-C52B-0B14-4E87-8C75E8C2154C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Desarrollo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3ABB3D0-3D02-D3AF-1361-BC20DDBAB11A}"/>
              </a:ext>
            </a:extLst>
          </p:cNvPr>
          <p:cNvSpPr txBox="1"/>
          <p:nvPr/>
        </p:nvSpPr>
        <p:spPr>
          <a:xfrm>
            <a:off x="4624978" y="1125405"/>
            <a:ext cx="23908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b="1" dirty="0">
                <a:solidFill>
                  <a:srgbClr val="75B6E5"/>
                </a:solidFill>
              </a:rPr>
              <a:t>Evaluación (</a:t>
            </a:r>
            <a:r>
              <a:rPr lang="es-ES" sz="2200" b="1" dirty="0" err="1">
                <a:solidFill>
                  <a:srgbClr val="75B6E5"/>
                </a:solidFill>
              </a:rPr>
              <a:t>IoU</a:t>
            </a:r>
            <a:r>
              <a:rPr lang="es-ES" sz="2200" b="1" dirty="0">
                <a:solidFill>
                  <a:srgbClr val="75B6E5"/>
                </a:solidFill>
              </a:rPr>
              <a:t>)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97F4E0-9F48-4596-D2C1-77DED68AC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21</a:t>
            </a:fld>
            <a:endParaRPr lang="es-ES"/>
          </a:p>
        </p:txBody>
      </p:sp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AEF4BAA3-8C4F-B9FF-D3B5-80B40925350F}"/>
              </a:ext>
            </a:extLst>
          </p:cNvPr>
          <p:cNvSpPr/>
          <p:nvPr/>
        </p:nvSpPr>
        <p:spPr>
          <a:xfrm>
            <a:off x="2614375" y="2480276"/>
            <a:ext cx="880361" cy="2143126"/>
          </a:xfrm>
          <a:custGeom>
            <a:avLst/>
            <a:gdLst>
              <a:gd name="connsiteX0" fmla="*/ 316412 w 632823"/>
              <a:gd name="connsiteY0" fmla="*/ 0 h 1588910"/>
              <a:gd name="connsiteX1" fmla="*/ 356592 w 632823"/>
              <a:gd name="connsiteY1" fmla="*/ 43166 h 1588910"/>
              <a:gd name="connsiteX2" fmla="*/ 632823 w 632823"/>
              <a:gd name="connsiteY2" fmla="*/ 794455 h 1588910"/>
              <a:gd name="connsiteX3" fmla="*/ 356592 w 632823"/>
              <a:gd name="connsiteY3" fmla="*/ 1545745 h 1588910"/>
              <a:gd name="connsiteX4" fmla="*/ 316412 w 632823"/>
              <a:gd name="connsiteY4" fmla="*/ 1588910 h 1588910"/>
              <a:gd name="connsiteX5" fmla="*/ 276231 w 632823"/>
              <a:gd name="connsiteY5" fmla="*/ 1545745 h 1588910"/>
              <a:gd name="connsiteX6" fmla="*/ 0 w 632823"/>
              <a:gd name="connsiteY6" fmla="*/ 794455 h 1588910"/>
              <a:gd name="connsiteX7" fmla="*/ 276231 w 632823"/>
              <a:gd name="connsiteY7" fmla="*/ 43166 h 1588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2823" h="1588910">
                <a:moveTo>
                  <a:pt x="316412" y="0"/>
                </a:moveTo>
                <a:lnTo>
                  <a:pt x="356592" y="43166"/>
                </a:lnTo>
                <a:cubicBezTo>
                  <a:pt x="529159" y="247329"/>
                  <a:pt x="632823" y="509072"/>
                  <a:pt x="632823" y="794455"/>
                </a:cubicBezTo>
                <a:cubicBezTo>
                  <a:pt x="632823" y="1079838"/>
                  <a:pt x="529159" y="1341581"/>
                  <a:pt x="356592" y="1545745"/>
                </a:cubicBezTo>
                <a:lnTo>
                  <a:pt x="316412" y="1588910"/>
                </a:lnTo>
                <a:lnTo>
                  <a:pt x="276231" y="1545745"/>
                </a:lnTo>
                <a:cubicBezTo>
                  <a:pt x="103664" y="1341581"/>
                  <a:pt x="0" y="1079838"/>
                  <a:pt x="0" y="794455"/>
                </a:cubicBezTo>
                <a:cubicBezTo>
                  <a:pt x="0" y="509072"/>
                  <a:pt x="103664" y="247329"/>
                  <a:pt x="276231" y="4316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DD5CFE12-E9A9-BE2D-749F-AD9C4D65B302}"/>
              </a:ext>
            </a:extLst>
          </p:cNvPr>
          <p:cNvSpPr/>
          <p:nvPr/>
        </p:nvSpPr>
        <p:spPr>
          <a:xfrm>
            <a:off x="398020" y="1956402"/>
            <a:ext cx="5336029" cy="3190875"/>
          </a:xfrm>
          <a:custGeom>
            <a:avLst/>
            <a:gdLst>
              <a:gd name="connsiteX0" fmla="*/ 3000263 w 4209938"/>
              <a:gd name="connsiteY0" fmla="*/ 0 h 2362200"/>
              <a:gd name="connsiteX1" fmla="*/ 4209938 w 4209938"/>
              <a:gd name="connsiteY1" fmla="*/ 1181100 h 2362200"/>
              <a:gd name="connsiteX2" fmla="*/ 3000263 w 4209938"/>
              <a:gd name="connsiteY2" fmla="*/ 2362200 h 2362200"/>
              <a:gd name="connsiteX3" fmla="*/ 2144894 w 4209938"/>
              <a:gd name="connsiteY3" fmla="*/ 2016264 h 2362200"/>
              <a:gd name="connsiteX4" fmla="*/ 2104969 w 4209938"/>
              <a:gd name="connsiteY4" fmla="*/ 1973374 h 2362200"/>
              <a:gd name="connsiteX5" fmla="*/ 2143119 w 4209938"/>
              <a:gd name="connsiteY5" fmla="*/ 1932390 h 2362200"/>
              <a:gd name="connsiteX6" fmla="*/ 2419350 w 4209938"/>
              <a:gd name="connsiteY6" fmla="*/ 1181100 h 2362200"/>
              <a:gd name="connsiteX7" fmla="*/ 2143119 w 4209938"/>
              <a:gd name="connsiteY7" fmla="*/ 429811 h 2362200"/>
              <a:gd name="connsiteX8" fmla="*/ 2104969 w 4209938"/>
              <a:gd name="connsiteY8" fmla="*/ 388827 h 2362200"/>
              <a:gd name="connsiteX9" fmla="*/ 2144894 w 4209938"/>
              <a:gd name="connsiteY9" fmla="*/ 345936 h 2362200"/>
              <a:gd name="connsiteX10" fmla="*/ 3000263 w 4209938"/>
              <a:gd name="connsiteY10" fmla="*/ 0 h 2362200"/>
              <a:gd name="connsiteX11" fmla="*/ 1209675 w 4209938"/>
              <a:gd name="connsiteY11" fmla="*/ 0 h 2362200"/>
              <a:gd name="connsiteX12" fmla="*/ 2065045 w 4209938"/>
              <a:gd name="connsiteY12" fmla="*/ 345936 h 2362200"/>
              <a:gd name="connsiteX13" fmla="*/ 2104969 w 4209938"/>
              <a:gd name="connsiteY13" fmla="*/ 388827 h 2362200"/>
              <a:gd name="connsiteX14" fmla="*/ 2066819 w 4209938"/>
              <a:gd name="connsiteY14" fmla="*/ 429811 h 2362200"/>
              <a:gd name="connsiteX15" fmla="*/ 1790588 w 4209938"/>
              <a:gd name="connsiteY15" fmla="*/ 1181100 h 2362200"/>
              <a:gd name="connsiteX16" fmla="*/ 2066819 w 4209938"/>
              <a:gd name="connsiteY16" fmla="*/ 1932390 h 2362200"/>
              <a:gd name="connsiteX17" fmla="*/ 2104969 w 4209938"/>
              <a:gd name="connsiteY17" fmla="*/ 1973374 h 2362200"/>
              <a:gd name="connsiteX18" fmla="*/ 2065045 w 4209938"/>
              <a:gd name="connsiteY18" fmla="*/ 2016264 h 2362200"/>
              <a:gd name="connsiteX19" fmla="*/ 1209675 w 4209938"/>
              <a:gd name="connsiteY19" fmla="*/ 2362200 h 2362200"/>
              <a:gd name="connsiteX20" fmla="*/ 0 w 4209938"/>
              <a:gd name="connsiteY20" fmla="*/ 1181100 h 2362200"/>
              <a:gd name="connsiteX21" fmla="*/ 1209675 w 4209938"/>
              <a:gd name="connsiteY21" fmla="*/ 0 h 236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209938" h="2362200">
                <a:moveTo>
                  <a:pt x="3000263" y="0"/>
                </a:moveTo>
                <a:cubicBezTo>
                  <a:pt x="3668348" y="0"/>
                  <a:pt x="4209938" y="528796"/>
                  <a:pt x="4209938" y="1181100"/>
                </a:cubicBezTo>
                <a:cubicBezTo>
                  <a:pt x="4209938" y="1833404"/>
                  <a:pt x="3668348" y="2362200"/>
                  <a:pt x="3000263" y="2362200"/>
                </a:cubicBezTo>
                <a:cubicBezTo>
                  <a:pt x="2666221" y="2362200"/>
                  <a:pt x="2363802" y="2230001"/>
                  <a:pt x="2144894" y="2016264"/>
                </a:cubicBezTo>
                <a:lnTo>
                  <a:pt x="2104969" y="1973374"/>
                </a:lnTo>
                <a:lnTo>
                  <a:pt x="2143119" y="1932390"/>
                </a:lnTo>
                <a:cubicBezTo>
                  <a:pt x="2315686" y="1728226"/>
                  <a:pt x="2419350" y="1466483"/>
                  <a:pt x="2419350" y="1181100"/>
                </a:cubicBezTo>
                <a:cubicBezTo>
                  <a:pt x="2419350" y="895717"/>
                  <a:pt x="2315686" y="633974"/>
                  <a:pt x="2143119" y="429811"/>
                </a:cubicBezTo>
                <a:lnTo>
                  <a:pt x="2104969" y="388827"/>
                </a:lnTo>
                <a:lnTo>
                  <a:pt x="2144894" y="345936"/>
                </a:lnTo>
                <a:cubicBezTo>
                  <a:pt x="2363802" y="132199"/>
                  <a:pt x="2666221" y="0"/>
                  <a:pt x="3000263" y="0"/>
                </a:cubicBezTo>
                <a:close/>
                <a:moveTo>
                  <a:pt x="1209675" y="0"/>
                </a:moveTo>
                <a:cubicBezTo>
                  <a:pt x="1543718" y="0"/>
                  <a:pt x="1846136" y="132199"/>
                  <a:pt x="2065045" y="345936"/>
                </a:cubicBezTo>
                <a:lnTo>
                  <a:pt x="2104969" y="388827"/>
                </a:lnTo>
                <a:lnTo>
                  <a:pt x="2066819" y="429811"/>
                </a:lnTo>
                <a:cubicBezTo>
                  <a:pt x="1894252" y="633974"/>
                  <a:pt x="1790588" y="895717"/>
                  <a:pt x="1790588" y="1181100"/>
                </a:cubicBezTo>
                <a:cubicBezTo>
                  <a:pt x="1790588" y="1466483"/>
                  <a:pt x="1894252" y="1728226"/>
                  <a:pt x="2066819" y="1932390"/>
                </a:cubicBezTo>
                <a:lnTo>
                  <a:pt x="2104969" y="1973374"/>
                </a:lnTo>
                <a:lnTo>
                  <a:pt x="2065045" y="2016264"/>
                </a:lnTo>
                <a:cubicBezTo>
                  <a:pt x="1846136" y="2230001"/>
                  <a:pt x="1543718" y="2362200"/>
                  <a:pt x="1209675" y="2362200"/>
                </a:cubicBezTo>
                <a:cubicBezTo>
                  <a:pt x="541590" y="2362200"/>
                  <a:pt x="0" y="1833404"/>
                  <a:pt x="0" y="1181100"/>
                </a:cubicBezTo>
                <a:cubicBezTo>
                  <a:pt x="0" y="528796"/>
                  <a:pt x="541590" y="0"/>
                  <a:pt x="1209675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B31A65C-F3E4-71F9-1AD9-E466FFCCF55D}"/>
              </a:ext>
            </a:extLst>
          </p:cNvPr>
          <p:cNvSpPr txBox="1"/>
          <p:nvPr/>
        </p:nvSpPr>
        <p:spPr>
          <a:xfrm>
            <a:off x="657838" y="3228673"/>
            <a:ext cx="169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Píxeles imagen original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29C90C9-BB0E-7345-0E79-63170ADCD6F4}"/>
              </a:ext>
            </a:extLst>
          </p:cNvPr>
          <p:cNvSpPr txBox="1"/>
          <p:nvPr/>
        </p:nvSpPr>
        <p:spPr>
          <a:xfrm>
            <a:off x="3885836" y="3228673"/>
            <a:ext cx="169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Píxeles imagen detectada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7F89152-73EB-DCAA-783C-F9302D105520}"/>
              </a:ext>
            </a:extLst>
          </p:cNvPr>
          <p:cNvSpPr txBox="1"/>
          <p:nvPr/>
        </p:nvSpPr>
        <p:spPr>
          <a:xfrm>
            <a:off x="2625853" y="3084708"/>
            <a:ext cx="880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Píxeles </a:t>
            </a:r>
          </a:p>
          <a:p>
            <a:pPr algn="ctr"/>
            <a:r>
              <a:rPr lang="es-ES" b="1" dirty="0"/>
              <a:t>En</a:t>
            </a:r>
          </a:p>
          <a:p>
            <a:pPr algn="ctr"/>
            <a:r>
              <a:rPr lang="es-ES" b="1" dirty="0"/>
              <a:t>común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9D943C6-1207-4CCC-7A15-36B6E70D3D3C}"/>
              </a:ext>
            </a:extLst>
          </p:cNvPr>
          <p:cNvSpPr txBox="1"/>
          <p:nvPr/>
        </p:nvSpPr>
        <p:spPr>
          <a:xfrm>
            <a:off x="6653914" y="4190752"/>
            <a:ext cx="51400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Los valores de </a:t>
            </a:r>
            <a:r>
              <a:rPr lang="es-ES" dirty="0" err="1"/>
              <a:t>IoU</a:t>
            </a:r>
            <a:r>
              <a:rPr lang="es-ES" dirty="0"/>
              <a:t> son comprendidos entre 0 y 1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Se hace redondeo al alza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21ED9AF8-134A-DAFD-97A0-F17FFB4ECC10}"/>
                  </a:ext>
                </a:extLst>
              </p:cNvPr>
              <p:cNvSpPr txBox="1"/>
              <p:nvPr/>
            </p:nvSpPr>
            <p:spPr>
              <a:xfrm>
                <a:off x="7202254" y="2968473"/>
                <a:ext cx="3348674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𝑀𝑒𝑑𝑖𝑎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𝐼𝑜𝑈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𝐼𝑜𝑈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2+…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𝐼𝑜𝑈𝑛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𝐼𝑜𝑈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21ED9AF8-134A-DAFD-97A0-F17FFB4EC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254" y="2968473"/>
                <a:ext cx="3348674" cy="5203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021D0A3C-3441-89E1-11FB-A2552633A6F6}"/>
                  </a:ext>
                </a:extLst>
              </p:cNvPr>
              <p:cNvSpPr txBox="1"/>
              <p:nvPr/>
            </p:nvSpPr>
            <p:spPr>
              <a:xfrm>
                <a:off x="7207796" y="1837188"/>
                <a:ext cx="3348674" cy="5829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𝐼𝑜𝑈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𝑟𝑒𝑎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𝐼𝑛𝑡𝑒𝑟𝑠𝑒𝑐𝑐𝑖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𝑟𝑒𝑎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𝑈𝑛𝑖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021D0A3C-3441-89E1-11FB-A2552633A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7796" y="1837188"/>
                <a:ext cx="3348674" cy="5829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4960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8BB86-A49B-E30E-C38B-11398CCB2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11D672B-C6A6-6832-D06E-DA7391ABBCB4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Desarrollo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D9FF504-BAF9-192E-F4E4-772FCB8F819D}"/>
              </a:ext>
            </a:extLst>
          </p:cNvPr>
          <p:cNvSpPr txBox="1"/>
          <p:nvPr/>
        </p:nvSpPr>
        <p:spPr>
          <a:xfrm>
            <a:off x="4624978" y="1125405"/>
            <a:ext cx="23908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b="1" dirty="0">
                <a:solidFill>
                  <a:srgbClr val="75B6E5"/>
                </a:solidFill>
              </a:rPr>
              <a:t>Evaluación (</a:t>
            </a:r>
            <a:r>
              <a:rPr lang="es-ES" sz="2200" b="1" dirty="0" err="1">
                <a:solidFill>
                  <a:srgbClr val="75B6E5"/>
                </a:solidFill>
              </a:rPr>
              <a:t>IoU</a:t>
            </a:r>
            <a:r>
              <a:rPr lang="es-ES" sz="2200" b="1" dirty="0">
                <a:solidFill>
                  <a:srgbClr val="75B6E5"/>
                </a:solidFill>
              </a:rPr>
              <a:t>)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56BA33-5344-D9C4-F20C-0CD1CCEAD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22</a:t>
            </a:fld>
            <a:endParaRPr lang="es-E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19BDDA5-FE27-0D57-0333-E9F309C0A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19" y="2553489"/>
            <a:ext cx="6568491" cy="241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67489100-DBEA-E359-EAA8-A9BA2743E6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713" y="2677314"/>
            <a:ext cx="2162175" cy="2162175"/>
          </a:xfrm>
          <a:prstGeom prst="rect">
            <a:avLst/>
          </a:prstGeom>
        </p:spPr>
      </p:pic>
      <p:pic>
        <p:nvPicPr>
          <p:cNvPr id="8" name="Imagen 7" descr="Imagen en blanco y negro de un carro&#10;&#10;Descripción generada automáticamente con confianza baja">
            <a:extLst>
              <a:ext uri="{FF2B5EF4-FFF2-40B4-BE49-F238E27FC236}">
                <a16:creationId xmlns:a16="http://schemas.microsoft.com/office/drawing/2014/main" id="{A8D06EFD-3233-D06C-0B8D-8811AA9063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514" y="2677314"/>
            <a:ext cx="2162175" cy="216217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08DB807-7546-B310-7AF1-956CE029EFB5}"/>
              </a:ext>
            </a:extLst>
          </p:cNvPr>
          <p:cNvSpPr txBox="1"/>
          <p:nvPr/>
        </p:nvSpPr>
        <p:spPr>
          <a:xfrm>
            <a:off x="2491842" y="1677273"/>
            <a:ext cx="1696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/>
              <a:t>Grad</a:t>
            </a:r>
            <a:r>
              <a:rPr lang="es-ES" sz="2000" b="1" dirty="0"/>
              <a:t>-CAM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9270B81-D19D-79C1-F7DF-79DE13A21EB1}"/>
              </a:ext>
            </a:extLst>
          </p:cNvPr>
          <p:cNvSpPr txBox="1"/>
          <p:nvPr/>
        </p:nvSpPr>
        <p:spPr>
          <a:xfrm>
            <a:off x="8676482" y="1677273"/>
            <a:ext cx="1696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YOLO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2DDF535-8855-7910-64D9-4E72C3DEC8ED}"/>
              </a:ext>
            </a:extLst>
          </p:cNvPr>
          <p:cNvSpPr/>
          <p:nvPr/>
        </p:nvSpPr>
        <p:spPr>
          <a:xfrm>
            <a:off x="6019800" y="4143375"/>
            <a:ext cx="295275" cy="238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7F2494DE-66B8-A675-3B24-C0F61B6B2CF3}"/>
              </a:ext>
            </a:extLst>
          </p:cNvPr>
          <p:cNvCxnSpPr>
            <a:cxnSpLocks/>
            <a:stCxn id="12" idx="2"/>
          </p:cNvCxnSpPr>
          <p:nvPr/>
        </p:nvCxnSpPr>
        <p:spPr>
          <a:xfrm flipH="1" flipV="1">
            <a:off x="4019550" y="4262437"/>
            <a:ext cx="2000250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5D586FFC-1DBA-C931-FFEF-DD3F37CA9F2D}"/>
              </a:ext>
            </a:extLst>
          </p:cNvPr>
          <p:cNvCxnSpPr>
            <a:cxnSpLocks/>
          </p:cNvCxnSpPr>
          <p:nvPr/>
        </p:nvCxnSpPr>
        <p:spPr>
          <a:xfrm>
            <a:off x="9086850" y="4000500"/>
            <a:ext cx="221932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C218C44-32E3-AE58-166C-AC746C21375A}"/>
              </a:ext>
            </a:extLst>
          </p:cNvPr>
          <p:cNvSpPr txBox="1"/>
          <p:nvPr/>
        </p:nvSpPr>
        <p:spPr>
          <a:xfrm>
            <a:off x="2428219" y="5254754"/>
            <a:ext cx="1823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20 % de acierto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469B8B8-D625-C2FF-7007-0B3EFD2A2FEE}"/>
              </a:ext>
            </a:extLst>
          </p:cNvPr>
          <p:cNvSpPr txBox="1"/>
          <p:nvPr/>
        </p:nvSpPr>
        <p:spPr>
          <a:xfrm>
            <a:off x="8612859" y="5254754"/>
            <a:ext cx="1823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36 % de acierto</a:t>
            </a:r>
          </a:p>
        </p:txBody>
      </p:sp>
    </p:spTree>
    <p:extLst>
      <p:ext uri="{BB962C8B-B14F-4D97-AF65-F5344CB8AC3E}">
        <p14:creationId xmlns:p14="http://schemas.microsoft.com/office/powerpoint/2010/main" val="113006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78F1174-8A22-A87A-952C-878E829ECC71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s-ES" sz="4800" dirty="0">
                <a:solidFill>
                  <a:srgbClr val="0070C0"/>
                </a:solidFill>
                <a:latin typeface="+mj-lt"/>
              </a:rPr>
              <a:t>Planificación Temporal</a:t>
            </a:r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C6AE9809-232D-6FD5-812A-4F1A717AD8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107174"/>
              </p:ext>
            </p:extLst>
          </p:nvPr>
        </p:nvGraphicFramePr>
        <p:xfrm>
          <a:off x="1040905" y="1560705"/>
          <a:ext cx="5540871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6957">
                  <a:extLst>
                    <a:ext uri="{9D8B030D-6E8A-4147-A177-3AD203B41FA5}">
                      <a16:colId xmlns:a16="http://schemas.microsoft.com/office/drawing/2014/main" val="4059576159"/>
                    </a:ext>
                  </a:extLst>
                </a:gridCol>
                <a:gridCol w="1846957">
                  <a:extLst>
                    <a:ext uri="{9D8B030D-6E8A-4147-A177-3AD203B41FA5}">
                      <a16:colId xmlns:a16="http://schemas.microsoft.com/office/drawing/2014/main" val="987619804"/>
                    </a:ext>
                  </a:extLst>
                </a:gridCol>
                <a:gridCol w="1846957">
                  <a:extLst>
                    <a:ext uri="{9D8B030D-6E8A-4147-A177-3AD203B41FA5}">
                      <a16:colId xmlns:a16="http://schemas.microsoft.com/office/drawing/2014/main" val="2127138571"/>
                    </a:ext>
                  </a:extLst>
                </a:gridCol>
              </a:tblGrid>
              <a:tr h="318789">
                <a:tc gridSpan="3">
                  <a:txBody>
                    <a:bodyPr/>
                    <a:lstStyle/>
                    <a:p>
                      <a:pPr algn="ctr"/>
                      <a:r>
                        <a:rPr lang="es-ES" dirty="0"/>
                        <a:t>Distribución de horas a cada fase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593799"/>
                  </a:ext>
                </a:extLst>
              </a:tr>
              <a:tr h="318789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Fases</a:t>
                      </a:r>
                      <a:endParaRPr lang="es-E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Tiempo Inicial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Tiempo final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265669"/>
                  </a:ext>
                </a:extLst>
              </a:tr>
              <a:tr h="796973">
                <a:tc>
                  <a:txBody>
                    <a:bodyPr/>
                    <a:lstStyle/>
                    <a:p>
                      <a:r>
                        <a:rPr lang="es-ES" dirty="0"/>
                        <a:t>1. Planificación, estudio, investigación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60 horas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54 horas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88237"/>
                  </a:ext>
                </a:extLst>
              </a:tr>
              <a:tr h="318789">
                <a:tc>
                  <a:txBody>
                    <a:bodyPr/>
                    <a:lstStyle/>
                    <a:p>
                      <a:r>
                        <a:rPr lang="es-ES" dirty="0"/>
                        <a:t>2. Inicio del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86 horas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82 horas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956760"/>
                  </a:ext>
                </a:extLst>
              </a:tr>
              <a:tr h="557881">
                <a:tc>
                  <a:txBody>
                    <a:bodyPr/>
                    <a:lstStyle/>
                    <a:p>
                      <a:r>
                        <a:rPr lang="es-ES" dirty="0"/>
                        <a:t>3. Implementación y pruebas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232 horas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230 horas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548062"/>
                  </a:ext>
                </a:extLst>
              </a:tr>
              <a:tr h="318789">
                <a:tc>
                  <a:txBody>
                    <a:bodyPr/>
                    <a:lstStyle/>
                    <a:p>
                      <a:r>
                        <a:rPr lang="es-ES" dirty="0"/>
                        <a:t>4. 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58 horas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53 horas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710597"/>
                  </a:ext>
                </a:extLst>
              </a:tr>
              <a:tr h="557881">
                <a:tc>
                  <a:txBody>
                    <a:bodyPr/>
                    <a:lstStyle/>
                    <a:p>
                      <a:r>
                        <a:rPr lang="es-ES" dirty="0"/>
                        <a:t>5. Revisión y corrección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44 horas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39 horas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37444"/>
                  </a:ext>
                </a:extLst>
              </a:tr>
              <a:tr h="318789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Horas Totales</a:t>
                      </a:r>
                    </a:p>
                  </a:txBody>
                  <a:tcPr>
                    <a:solidFill>
                      <a:srgbClr val="75B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480</a:t>
                      </a:r>
                    </a:p>
                  </a:txBody>
                  <a:tcPr>
                    <a:solidFill>
                      <a:srgbClr val="75B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460</a:t>
                      </a:r>
                    </a:p>
                  </a:txBody>
                  <a:tcPr>
                    <a:solidFill>
                      <a:srgbClr val="75B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525847"/>
                  </a:ext>
                </a:extLst>
              </a:tr>
            </a:tbl>
          </a:graphicData>
        </a:graphic>
      </p:graphicFrame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6638B42A-E00D-E5DD-7EB2-CC30889D63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1126611"/>
              </p:ext>
            </p:extLst>
          </p:nvPr>
        </p:nvGraphicFramePr>
        <p:xfrm>
          <a:off x="6581776" y="1975042"/>
          <a:ext cx="5429250" cy="3743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9886D7D-A037-1D5D-69BC-F1F5CC391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8952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6CA262-3D22-9BC7-DAF8-E2EA35B38F28}"/>
              </a:ext>
            </a:extLst>
          </p:cNvPr>
          <p:cNvSpPr txBox="1"/>
          <p:nvPr/>
        </p:nvSpPr>
        <p:spPr>
          <a:xfrm>
            <a:off x="3314700" y="5388917"/>
            <a:ext cx="95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F998D84-2449-5C87-78C2-341EF1F86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24</a:t>
            </a:fld>
            <a:endParaRPr lang="es-ES"/>
          </a:p>
        </p:txBody>
      </p:sp>
      <p:pic>
        <p:nvPicPr>
          <p:cNvPr id="4" name="Imagen 3" descr="Gráfico&#10;&#10;Descripción generada automáticamente">
            <a:extLst>
              <a:ext uri="{FF2B5EF4-FFF2-40B4-BE49-F238E27FC236}">
                <a16:creationId xmlns:a16="http://schemas.microsoft.com/office/drawing/2014/main" id="{5BD72F7A-3A08-7120-0F70-99A81B5CD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40" y="98490"/>
            <a:ext cx="9900919" cy="2912341"/>
          </a:xfrm>
          <a:prstGeom prst="rect">
            <a:avLst/>
          </a:prstGeom>
        </p:spPr>
      </p:pic>
      <p:pic>
        <p:nvPicPr>
          <p:cNvPr id="8" name="Imagen 7" descr="Gráfico&#10;&#10;Descripción generada automáticamente">
            <a:extLst>
              <a:ext uri="{FF2B5EF4-FFF2-40B4-BE49-F238E27FC236}">
                <a16:creationId xmlns:a16="http://schemas.microsoft.com/office/drawing/2014/main" id="{FA0A867B-48F4-EFF6-B314-EC13A71CB3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51" y="3052619"/>
            <a:ext cx="9900919" cy="3249525"/>
          </a:xfrm>
          <a:prstGeom prst="rect">
            <a:avLst/>
          </a:prstGeom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006EFFEA-97AB-8817-D21C-A65564E2BD74}"/>
              </a:ext>
            </a:extLst>
          </p:cNvPr>
          <p:cNvCxnSpPr>
            <a:cxnSpLocks/>
          </p:cNvCxnSpPr>
          <p:nvPr/>
        </p:nvCxnSpPr>
        <p:spPr>
          <a:xfrm>
            <a:off x="6188364" y="1136073"/>
            <a:ext cx="461818" cy="326043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1A307B31-25EB-F13C-19DD-3DA6F1CC615A}"/>
              </a:ext>
            </a:extLst>
          </p:cNvPr>
          <p:cNvCxnSpPr>
            <a:cxnSpLocks/>
          </p:cNvCxnSpPr>
          <p:nvPr/>
        </p:nvCxnSpPr>
        <p:spPr>
          <a:xfrm>
            <a:off x="8266545" y="1856509"/>
            <a:ext cx="314037" cy="318287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F0D5D661-4A3B-342D-361A-7D00AF8926C1}"/>
              </a:ext>
            </a:extLst>
          </p:cNvPr>
          <p:cNvCxnSpPr>
            <a:cxnSpLocks/>
          </p:cNvCxnSpPr>
          <p:nvPr/>
        </p:nvCxnSpPr>
        <p:spPr>
          <a:xfrm flipH="1">
            <a:off x="9633527" y="2623127"/>
            <a:ext cx="114414" cy="322745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8E6841F-37A0-DFE2-014C-4B0F2FF4FC2F}"/>
              </a:ext>
            </a:extLst>
          </p:cNvPr>
          <p:cNvSpPr txBox="1"/>
          <p:nvPr/>
        </p:nvSpPr>
        <p:spPr>
          <a:xfrm>
            <a:off x="8123382" y="79283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INICIAL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D504344-0F87-8480-584F-4FBF0365B2EB}"/>
              </a:ext>
            </a:extLst>
          </p:cNvPr>
          <p:cNvSpPr txBox="1"/>
          <p:nvPr/>
        </p:nvSpPr>
        <p:spPr>
          <a:xfrm>
            <a:off x="5753099" y="547871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41398104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78F1174-8A22-A87A-952C-878E829ECC71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Planificación financiera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1ABFD29-04D2-9BB1-8997-BE7B52A75210}"/>
              </a:ext>
            </a:extLst>
          </p:cNvPr>
          <p:cNvSpPr txBox="1"/>
          <p:nvPr/>
        </p:nvSpPr>
        <p:spPr>
          <a:xfrm>
            <a:off x="1040905" y="2047875"/>
            <a:ext cx="244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Gastos Materiales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06D1208-18CC-495A-8494-45DD4B22D24B}"/>
              </a:ext>
            </a:extLst>
          </p:cNvPr>
          <p:cNvSpPr txBox="1"/>
          <p:nvPr/>
        </p:nvSpPr>
        <p:spPr>
          <a:xfrm>
            <a:off x="9790313" y="4055993"/>
            <a:ext cx="980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19’32</a:t>
            </a:r>
            <a:r>
              <a:rPr lang="es-ES" sz="1800" b="0" i="0" u="none" strike="noStrike" kern="1200" baseline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€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1103340-AEA4-1F14-AD35-51217129EBDD}"/>
              </a:ext>
            </a:extLst>
          </p:cNvPr>
          <p:cNvSpPr txBox="1"/>
          <p:nvPr/>
        </p:nvSpPr>
        <p:spPr>
          <a:xfrm>
            <a:off x="9828735" y="4742279"/>
            <a:ext cx="980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16</a:t>
            </a:r>
            <a:r>
              <a:rPr lang="es-ES" sz="1800" b="0" i="0" u="none" strike="noStrike" kern="1200" baseline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€</a:t>
            </a:r>
            <a:endParaRPr lang="es-ES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F3A3010A-3908-A304-FE1A-01038F5F6263}"/>
              </a:ext>
            </a:extLst>
          </p:cNvPr>
          <p:cNvCxnSpPr>
            <a:cxnSpLocks/>
          </p:cNvCxnSpPr>
          <p:nvPr/>
        </p:nvCxnSpPr>
        <p:spPr>
          <a:xfrm>
            <a:off x="3012580" y="2232541"/>
            <a:ext cx="1616570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A385495C-B38C-67E2-7F78-B1A6A0FF6A6D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8848725" y="4240659"/>
            <a:ext cx="941588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94334C9B-9C84-0F96-3CF0-83B22D596EEE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8848725" y="4926945"/>
            <a:ext cx="980010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D2CE460-6B78-001C-70E9-D2660330D59F}"/>
              </a:ext>
            </a:extLst>
          </p:cNvPr>
          <p:cNvSpPr txBox="1"/>
          <p:nvPr/>
        </p:nvSpPr>
        <p:spPr>
          <a:xfrm>
            <a:off x="4569353" y="2049572"/>
            <a:ext cx="5220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Equipo personal + Herramientas + Gastos energéticos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95425EC8-CCE6-5ED7-92B0-EA6F393C8089}"/>
              </a:ext>
            </a:extLst>
          </p:cNvPr>
          <p:cNvCxnSpPr>
            <a:cxnSpLocks/>
          </p:cNvCxnSpPr>
          <p:nvPr/>
        </p:nvCxnSpPr>
        <p:spPr>
          <a:xfrm>
            <a:off x="9713549" y="2232541"/>
            <a:ext cx="373817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45DC587-71E4-F8BF-CBB6-FB5A02E2F6A4}"/>
              </a:ext>
            </a:extLst>
          </p:cNvPr>
          <p:cNvSpPr txBox="1"/>
          <p:nvPr/>
        </p:nvSpPr>
        <p:spPr>
          <a:xfrm>
            <a:off x="10125698" y="2047875"/>
            <a:ext cx="948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0" i="0" u="none" strike="noStrike" kern="1200" baseline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862,4€</a:t>
            </a:r>
            <a:endParaRPr lang="es-ES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64EBF52-0F0F-EA54-BF2C-DA74837FC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25</a:t>
            </a:fld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6366EEA-2FBC-CCD4-209D-15003079E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711" y="2914037"/>
            <a:ext cx="8056076" cy="265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879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78F1174-8A22-A87A-952C-878E829ECC71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Planificación financiera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7F1E020-8926-24EA-F780-B12A7A12B4AA}"/>
              </a:ext>
            </a:extLst>
          </p:cNvPr>
          <p:cNvSpPr txBox="1"/>
          <p:nvPr/>
        </p:nvSpPr>
        <p:spPr>
          <a:xfrm>
            <a:off x="1155205" y="1866913"/>
            <a:ext cx="1759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Gastos Totales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85E83B8-FDF7-1B0F-D1EE-B842F6699DFF}"/>
              </a:ext>
            </a:extLst>
          </p:cNvPr>
          <p:cNvSpPr txBox="1"/>
          <p:nvPr/>
        </p:nvSpPr>
        <p:spPr>
          <a:xfrm>
            <a:off x="4138082" y="18669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Gastos materiales + Gastos en personal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50523D53-28BA-2BB6-B2DA-D3542D16429B}"/>
              </a:ext>
            </a:extLst>
          </p:cNvPr>
          <p:cNvCxnSpPr>
            <a:cxnSpLocks/>
          </p:cNvCxnSpPr>
          <p:nvPr/>
        </p:nvCxnSpPr>
        <p:spPr>
          <a:xfrm>
            <a:off x="2914650" y="2051579"/>
            <a:ext cx="941588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errar llave 7">
            <a:extLst>
              <a:ext uri="{FF2B5EF4-FFF2-40B4-BE49-F238E27FC236}">
                <a16:creationId xmlns:a16="http://schemas.microsoft.com/office/drawing/2014/main" id="{D41A82E4-5987-2595-D818-A7A13405A19F}"/>
              </a:ext>
            </a:extLst>
          </p:cNvPr>
          <p:cNvSpPr/>
          <p:nvPr/>
        </p:nvSpPr>
        <p:spPr>
          <a:xfrm rot="5400000">
            <a:off x="6826508" y="1445385"/>
            <a:ext cx="245017" cy="170603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98C250D-3569-B003-22AF-42904D887A02}"/>
              </a:ext>
            </a:extLst>
          </p:cNvPr>
          <p:cNvSpPr txBox="1"/>
          <p:nvPr/>
        </p:nvSpPr>
        <p:spPr>
          <a:xfrm>
            <a:off x="5734695" y="2420911"/>
            <a:ext cx="2734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Horas Totales * Precio/hora</a:t>
            </a:r>
          </a:p>
        </p:txBody>
      </p:sp>
      <p:graphicFrame>
        <p:nvGraphicFramePr>
          <p:cNvPr id="11" name="Tabla 11">
            <a:extLst>
              <a:ext uri="{FF2B5EF4-FFF2-40B4-BE49-F238E27FC236}">
                <a16:creationId xmlns:a16="http://schemas.microsoft.com/office/drawing/2014/main" id="{30DEE85A-D220-43B1-A048-DB4C757D5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96098"/>
              </p:ext>
            </p:extLst>
          </p:nvPr>
        </p:nvGraphicFramePr>
        <p:xfrm>
          <a:off x="915057" y="2790243"/>
          <a:ext cx="10528798" cy="3342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981">
                  <a:extLst>
                    <a:ext uri="{9D8B030D-6E8A-4147-A177-3AD203B41FA5}">
                      <a16:colId xmlns:a16="http://schemas.microsoft.com/office/drawing/2014/main" val="1477421345"/>
                    </a:ext>
                  </a:extLst>
                </a:gridCol>
                <a:gridCol w="1726981">
                  <a:extLst>
                    <a:ext uri="{9D8B030D-6E8A-4147-A177-3AD203B41FA5}">
                      <a16:colId xmlns:a16="http://schemas.microsoft.com/office/drawing/2014/main" val="984217042"/>
                    </a:ext>
                  </a:extLst>
                </a:gridCol>
                <a:gridCol w="1726981">
                  <a:extLst>
                    <a:ext uri="{9D8B030D-6E8A-4147-A177-3AD203B41FA5}">
                      <a16:colId xmlns:a16="http://schemas.microsoft.com/office/drawing/2014/main" val="3089131901"/>
                    </a:ext>
                  </a:extLst>
                </a:gridCol>
                <a:gridCol w="1726981">
                  <a:extLst>
                    <a:ext uri="{9D8B030D-6E8A-4147-A177-3AD203B41FA5}">
                      <a16:colId xmlns:a16="http://schemas.microsoft.com/office/drawing/2014/main" val="4203592401"/>
                    </a:ext>
                  </a:extLst>
                </a:gridCol>
                <a:gridCol w="1726981">
                  <a:extLst>
                    <a:ext uri="{9D8B030D-6E8A-4147-A177-3AD203B41FA5}">
                      <a16:colId xmlns:a16="http://schemas.microsoft.com/office/drawing/2014/main" val="2302119545"/>
                    </a:ext>
                  </a:extLst>
                </a:gridCol>
                <a:gridCol w="1893893">
                  <a:extLst>
                    <a:ext uri="{9D8B030D-6E8A-4147-A177-3AD203B41FA5}">
                      <a16:colId xmlns:a16="http://schemas.microsoft.com/office/drawing/2014/main" val="3492041613"/>
                    </a:ext>
                  </a:extLst>
                </a:gridCol>
              </a:tblGrid>
              <a:tr h="794958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Horas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Precio medio Neto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Precio medio Bruto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Total Neto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Total Bruto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548216"/>
                  </a:ext>
                </a:extLst>
              </a:tr>
              <a:tr h="156769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Inicial</a:t>
                      </a:r>
                    </a:p>
                  </a:txBody>
                  <a:tcPr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16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€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19’32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€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862’4 + 480 * 16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€ = 8.542€</a:t>
                      </a:r>
                      <a:endParaRPr lang="es-E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dirty="0"/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862’4 + 480 * 19’32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€ = 10.136€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621765"/>
                  </a:ext>
                </a:extLst>
              </a:tr>
              <a:tr h="979806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Final</a:t>
                      </a:r>
                      <a:endParaRPr lang="es-ES" dirty="0"/>
                    </a:p>
                  </a:txBody>
                  <a:tcPr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16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€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19’32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€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14 + 460 * 16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€ = 7.374€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14 + 460 * 19’32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€ =  8.901€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085683"/>
                  </a:ext>
                </a:extLst>
              </a:tr>
            </a:tbl>
          </a:graphicData>
        </a:graphic>
      </p:graphicFrame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3EBA34-5752-6FAA-4BFF-D5042806D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2767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78F1174-8A22-A87A-952C-878E829ECC71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Estudio de mercado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E4D4719-016A-4507-F407-0BDB7EAF8D5F}"/>
              </a:ext>
            </a:extLst>
          </p:cNvPr>
          <p:cNvSpPr txBox="1"/>
          <p:nvPr/>
        </p:nvSpPr>
        <p:spPr>
          <a:xfrm>
            <a:off x="2015877" y="2044184"/>
            <a:ext cx="2066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chemeClr val="accent1">
                    <a:lumMod val="75000"/>
                  </a:schemeClr>
                </a:solidFill>
              </a:rPr>
              <a:t>Clientes potenciales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00F9D07-13AC-2CAF-D825-D44141F5DA5B}"/>
              </a:ext>
            </a:extLst>
          </p:cNvPr>
          <p:cNvSpPr txBox="1"/>
          <p:nvPr/>
        </p:nvSpPr>
        <p:spPr>
          <a:xfrm>
            <a:off x="7258718" y="2044184"/>
            <a:ext cx="2657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chemeClr val="accent1">
                    <a:lumMod val="75000"/>
                  </a:schemeClr>
                </a:solidFill>
              </a:rPr>
              <a:t>Plan de comercialización</a:t>
            </a:r>
          </a:p>
        </p:txBody>
      </p:sp>
      <p:graphicFrame>
        <p:nvGraphicFramePr>
          <p:cNvPr id="11" name="Tabla 11">
            <a:extLst>
              <a:ext uri="{FF2B5EF4-FFF2-40B4-BE49-F238E27FC236}">
                <a16:creationId xmlns:a16="http://schemas.microsoft.com/office/drawing/2014/main" id="{9D5D57A7-ABFB-3573-63BC-785FC0870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613949"/>
              </p:ext>
            </p:extLst>
          </p:nvPr>
        </p:nvGraphicFramePr>
        <p:xfrm>
          <a:off x="5716338" y="2684191"/>
          <a:ext cx="5742237" cy="2197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079">
                  <a:extLst>
                    <a:ext uri="{9D8B030D-6E8A-4147-A177-3AD203B41FA5}">
                      <a16:colId xmlns:a16="http://schemas.microsoft.com/office/drawing/2014/main" val="920185816"/>
                    </a:ext>
                  </a:extLst>
                </a:gridCol>
                <a:gridCol w="1914079">
                  <a:extLst>
                    <a:ext uri="{9D8B030D-6E8A-4147-A177-3AD203B41FA5}">
                      <a16:colId xmlns:a16="http://schemas.microsoft.com/office/drawing/2014/main" val="3090881308"/>
                    </a:ext>
                  </a:extLst>
                </a:gridCol>
                <a:gridCol w="1914079">
                  <a:extLst>
                    <a:ext uri="{9D8B030D-6E8A-4147-A177-3AD203B41FA5}">
                      <a16:colId xmlns:a16="http://schemas.microsoft.com/office/drawing/2014/main" val="3543308625"/>
                    </a:ext>
                  </a:extLst>
                </a:gridCol>
              </a:tblGrid>
              <a:tr h="549383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Nº</a:t>
                      </a:r>
                      <a:r>
                        <a:rPr lang="es-ES" dirty="0"/>
                        <a:t> de 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Precio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551754"/>
                  </a:ext>
                </a:extLst>
              </a:tr>
              <a:tr h="549383">
                <a:tc>
                  <a:txBody>
                    <a:bodyPr/>
                    <a:lstStyle/>
                    <a:p>
                      <a:r>
                        <a:rPr lang="es-ES" dirty="0"/>
                        <a:t>Básico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500€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678420"/>
                  </a:ext>
                </a:extLst>
              </a:tr>
              <a:tr h="549383">
                <a:tc>
                  <a:txBody>
                    <a:bodyPr/>
                    <a:lstStyle/>
                    <a:p>
                      <a:r>
                        <a:rPr lang="es-ES" dirty="0"/>
                        <a:t>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4.000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€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616771"/>
                  </a:ext>
                </a:extLst>
              </a:tr>
              <a:tr h="549383">
                <a:tc>
                  <a:txBody>
                    <a:bodyPr/>
                    <a:lstStyle/>
                    <a:p>
                      <a:r>
                        <a:rPr lang="es-ES" dirty="0"/>
                        <a:t>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200.000€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239380"/>
                  </a:ext>
                </a:extLst>
              </a:tr>
            </a:tbl>
          </a:graphicData>
        </a:graphic>
      </p:graphicFrame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87847E1-4693-AD5D-D27D-3F42FE7C0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27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E318895-8FFB-3B0C-0729-EDE4269A0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73" y="2684191"/>
            <a:ext cx="5283472" cy="264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1347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78F1174-8A22-A87A-952C-878E829ECC71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s-ES" sz="4800" dirty="0">
                <a:solidFill>
                  <a:srgbClr val="0070C0"/>
                </a:solidFill>
                <a:latin typeface="+mj-lt"/>
              </a:rPr>
              <a:t>Conclusiones</a:t>
            </a:r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FB07AB5-DB65-5DA8-7B31-EAD374A5732C}"/>
              </a:ext>
            </a:extLst>
          </p:cNvPr>
          <p:cNvSpPr txBox="1"/>
          <p:nvPr/>
        </p:nvSpPr>
        <p:spPr>
          <a:xfrm>
            <a:off x="1333499" y="2257425"/>
            <a:ext cx="756790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Problemáticas con la uniformidad, propiedades y cantidad de los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Red CNN mejor para clasificación y YOLO para la detección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Un sistema como combinación de ambos procedimientos como mejor solución</a:t>
            </a:r>
          </a:p>
          <a:p>
            <a:endParaRPr lang="es-ES" sz="20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0D1290-AB65-52C4-8997-2F9B2E9F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67534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78F1174-8A22-A87A-952C-878E829ECC71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s-ES" sz="4800" dirty="0">
                <a:solidFill>
                  <a:srgbClr val="0070C0"/>
                </a:solidFill>
                <a:latin typeface="+mj-lt"/>
              </a:rPr>
              <a:t>Trabajo futuro </a:t>
            </a:r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FB07AB5-DB65-5DA8-7B31-EAD374A5732C}"/>
              </a:ext>
            </a:extLst>
          </p:cNvPr>
          <p:cNvSpPr txBox="1"/>
          <p:nvPr/>
        </p:nvSpPr>
        <p:spPr>
          <a:xfrm>
            <a:off x="1333499" y="2257425"/>
            <a:ext cx="88773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Generalizar el modelo para que esté preparado para detectar cualquier tipo de tumor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Mejorar la fiabilidad de predicción y la detección de las zonas críticas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Implementarlo el modelo en un sistema de propósito específico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Integración en el sistema sanitario a modo de servicio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4B1D90-D4DB-854F-8D44-DABE58C60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5638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78F1174-8A22-A87A-952C-878E829ECC71}"/>
              </a:ext>
            </a:extLst>
          </p:cNvPr>
          <p:cNvSpPr txBox="1"/>
          <p:nvPr/>
        </p:nvSpPr>
        <p:spPr>
          <a:xfrm>
            <a:off x="1040905" y="725295"/>
            <a:ext cx="955903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rgbClr val="0070C0"/>
                </a:solidFill>
                <a:latin typeface="+mj-lt"/>
              </a:rPr>
              <a:t>Referencias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27C2146-35BF-0DBD-1E05-A19F42C9D8BD}"/>
              </a:ext>
            </a:extLst>
          </p:cNvPr>
          <p:cNvSpPr txBox="1"/>
          <p:nvPr/>
        </p:nvSpPr>
        <p:spPr>
          <a:xfrm>
            <a:off x="1040905" y="1556292"/>
            <a:ext cx="1068649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algn="just"/>
            <a:r>
              <a:rPr lang="es-E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Beneficios XAI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(s.f.). Obtenido de Beneficios XAI: https://medium.com/@isrfoundation89/explainable-ai-xai-7f2710cb58f3</a:t>
            </a:r>
          </a:p>
          <a:p>
            <a:pPr indent="-457200" algn="just"/>
            <a:r>
              <a:rPr lang="es-E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Datos del Cáncer OMS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(s.f.). Obtenido de Datos del Cáncer OMS: https://www.who.int/es/news-room/fact-sheets/detail/cancer</a:t>
            </a:r>
          </a:p>
          <a:p>
            <a:pPr indent="-457200" algn="just"/>
            <a:r>
              <a:rPr lang="es-E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evaluate</a:t>
            </a:r>
            <a:r>
              <a:rPr lang="es-E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s-E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performance </a:t>
            </a:r>
            <a:r>
              <a:rPr lang="es-E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s-E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ml </a:t>
            </a:r>
            <a:r>
              <a:rPr lang="es-E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(s.f.). Obtenido de </a:t>
            </a:r>
            <a:r>
              <a:rPr lang="es-E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evaluate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performance </a:t>
            </a:r>
            <a:r>
              <a:rPr lang="es-E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ml </a:t>
            </a:r>
            <a:r>
              <a:rPr lang="es-E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https://medium.com/analytics-vidhya/confusion-matrix-accuracy-precision-recall-f1-score-ade299cf63cd</a:t>
            </a:r>
          </a:p>
          <a:p>
            <a:pPr indent="-457200" algn="just"/>
            <a:r>
              <a:rPr lang="es-E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Explainable</a:t>
            </a:r>
            <a:r>
              <a:rPr lang="es-E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AI: A Comprehensive </a:t>
            </a:r>
            <a:r>
              <a:rPr lang="es-E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Review</a:t>
            </a:r>
            <a:r>
              <a:rPr lang="es-E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s-E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s-E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</a:t>
            </a:r>
            <a:r>
              <a:rPr lang="es-E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Methods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(s.f.). Obtenido de </a:t>
            </a:r>
            <a:r>
              <a:rPr lang="es-E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Explainable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AI: A Comprehensive </a:t>
            </a:r>
            <a:r>
              <a:rPr lang="es-E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Review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Methods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https://medium.com/@dallanoce.fd/explainable-ai-a-complete-summary-of-the-main-methods-a28f9ab132f7</a:t>
            </a:r>
            <a:endParaRPr lang="es-E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-457200" algn="just"/>
            <a:r>
              <a:rPr lang="es-E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</a:t>
            </a:r>
            <a:r>
              <a:rPr lang="es-ES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Review</a:t>
            </a:r>
            <a:r>
              <a:rPr lang="es-E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s-E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Different</a:t>
            </a:r>
            <a:r>
              <a:rPr lang="es-E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Interpretation</a:t>
            </a:r>
            <a:r>
              <a:rPr lang="es-E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Methods</a:t>
            </a:r>
            <a:r>
              <a:rPr lang="es-E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s-ES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Part</a:t>
            </a:r>
            <a:r>
              <a:rPr lang="es-E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1: </a:t>
            </a:r>
            <a:r>
              <a:rPr lang="es-ES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Saliency</a:t>
            </a:r>
            <a:r>
              <a:rPr lang="es-E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Map</a:t>
            </a:r>
            <a:r>
              <a:rPr lang="es-E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CAM, </a:t>
            </a:r>
            <a:r>
              <a:rPr lang="es-ES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Grad</a:t>
            </a:r>
            <a:r>
              <a:rPr lang="es-E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-CAM)</a:t>
            </a:r>
            <a:r>
              <a:rPr lang="es-E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(s.f.). Obtenido de A </a:t>
            </a:r>
            <a:r>
              <a:rPr lang="es-E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Review</a:t>
            </a:r>
            <a:r>
              <a:rPr lang="es-E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s-E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Different</a:t>
            </a:r>
            <a:r>
              <a:rPr lang="es-E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Interpretation</a:t>
            </a:r>
            <a:r>
              <a:rPr lang="es-E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Methods</a:t>
            </a:r>
            <a:r>
              <a:rPr lang="es-E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s-E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Part</a:t>
            </a:r>
            <a:r>
              <a:rPr lang="es-E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1: </a:t>
            </a:r>
            <a:r>
              <a:rPr lang="es-E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Saliency</a:t>
            </a:r>
            <a:r>
              <a:rPr lang="es-E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Map</a:t>
            </a:r>
            <a:r>
              <a:rPr lang="es-E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CAM, </a:t>
            </a:r>
            <a:r>
              <a:rPr lang="es-E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Grad</a:t>
            </a:r>
            <a:r>
              <a:rPr lang="es-E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-CAM): https://mrsalehi.medium.com/a-review-of-different-interpretation-methods-in-deep-learning-part-1-saliency-map-cam-grad-cam-3a34476bc24d</a:t>
            </a:r>
          </a:p>
          <a:p>
            <a:pPr indent="-457200" algn="just"/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…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8546600-0ED3-5C96-E47A-42EDFBFD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2674-6BC1-410B-9194-76B6CB7F6F6A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407192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8284</TotalTime>
  <Words>1018</Words>
  <Application>Microsoft Office PowerPoint</Application>
  <PresentationFormat>Panorámica</PresentationFormat>
  <Paragraphs>318</Paragraphs>
  <Slides>30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Georgia</vt:lpstr>
      <vt:lpstr>Times New Roman</vt:lpstr>
      <vt:lpstr>Retrospección</vt:lpstr>
      <vt:lpstr>Explicabilidad en sistemas de inteligencia artificial para la detección de tumores</vt:lpstr>
      <vt:lpstr>Índice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reconocimiento de problemas cardíacos basado en clasificación de sonidos mediante deep learning</dc:title>
  <dc:creator>josgongon12@alum.us.es</dc:creator>
  <cp:lastModifiedBy>JOSE ANDRES GONZALEZ GONZALEZ</cp:lastModifiedBy>
  <cp:revision>60</cp:revision>
  <dcterms:created xsi:type="dcterms:W3CDTF">2022-12-09T11:28:38Z</dcterms:created>
  <dcterms:modified xsi:type="dcterms:W3CDTF">2024-11-13T22:11:12Z</dcterms:modified>
</cp:coreProperties>
</file>